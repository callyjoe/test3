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0"/>
  </p:notesMasterIdLst>
  <p:sldIdLst>
    <p:sldId id="349" r:id="rId81"/>
    <p:sldId id="325" r:id="rId82"/>
    <p:sldId id="327" r:id="rId83"/>
    <p:sldId id="328" r:id="rId84"/>
    <p:sldId id="329" r:id="rId85"/>
    <p:sldId id="330" r:id="rId86"/>
    <p:sldId id="462" r:id="rId87"/>
    <p:sldId id="463" r:id="rId88"/>
    <p:sldId id="464" r:id="rId89"/>
    <p:sldId id="331" r:id="rId90"/>
    <p:sldId id="332" r:id="rId91"/>
    <p:sldId id="333" r:id="rId92"/>
    <p:sldId id="334" r:id="rId93"/>
    <p:sldId id="335" r:id="rId94"/>
    <p:sldId id="337" r:id="rId95"/>
    <p:sldId id="336" r:id="rId96"/>
    <p:sldId id="338" r:id="rId97"/>
    <p:sldId id="339" r:id="rId98"/>
    <p:sldId id="340" r:id="rId9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0" autoAdjust="0"/>
    <p:restoredTop sz="94249" autoAdjust="0"/>
  </p:normalViewPr>
  <p:slideViewPr>
    <p:cSldViewPr snapToGrid="0">
      <p:cViewPr varScale="1">
        <p:scale>
          <a:sx n="68" d="100"/>
          <a:sy n="68" d="100"/>
        </p:scale>
        <p:origin x="11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4" Type="http://schemas.openxmlformats.org/officeDocument/2006/relationships/slide" Target="slides/slide83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11" Type="http://schemas.openxmlformats.org/officeDocument/2006/relationships/presProps" Target="presProps.xml"/><Relationship Id="rId85" Type="http://schemas.openxmlformats.org/officeDocument/2006/relationships/slide" Target="slides/slide8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212" Type="http://schemas.openxmlformats.org/officeDocument/2006/relationships/viewProps" Target="viewProps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7" Type="http://schemas.openxmlformats.org/officeDocument/2006/relationships/slide" Target="slides/slide96.xml"/><Relationship Id="rId92" Type="http://schemas.openxmlformats.org/officeDocument/2006/relationships/slide" Target="slides/slide91.xml"/><Relationship Id="rId213" Type="http://schemas.openxmlformats.org/officeDocument/2006/relationships/theme" Target="theme/theme1.xml"/><Relationship Id="rId87" Type="http://schemas.openxmlformats.org/officeDocument/2006/relationships/slide" Target="slides/slide86.xml"/><Relationship Id="rId82" Type="http://schemas.openxmlformats.org/officeDocument/2006/relationships/slide" Target="slides/slide8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214" Type="http://schemas.openxmlformats.org/officeDocument/2006/relationships/tableStyles" Target="tableStyles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210" Type="http://schemas.openxmlformats.org/officeDocument/2006/relationships/notesMaster" Target="notesMasters/notesMaster1.xml"/><Relationship Id="rId89" Type="http://schemas.openxmlformats.org/officeDocument/2006/relationships/slide" Target="slides/slide8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2E016-85A6-47A7-B929-3244CDF31F8A}" type="datetimeFigureOut">
              <a:rPr lang="en-GH" smtClean="0"/>
              <a:t>07/13/2026</a:t>
            </a:fld>
            <a:endParaRPr lang="en-G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8FCDD-124F-487A-9F99-6D0F3BE0E65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013847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TCO-TOTAL COST OF OWNERSHIP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8FCDD-124F-487A-9F99-6D0F3BE0E656}" type="slidenum">
              <a:rPr lang="en-GH" smtClean="0"/>
              <a:t>85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052634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TCO-TOTAL COST OF OWNERSHIP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8FCDD-124F-487A-9F99-6D0F3BE0E656}" type="slidenum">
              <a:rPr lang="en-GH" smtClean="0"/>
              <a:t>86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095298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TCO-TOTAL COST OF OWNERSHIP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8FCDD-124F-487A-9F99-6D0F3BE0E656}" type="slidenum">
              <a:rPr lang="en-GH" smtClean="0"/>
              <a:t>87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750391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TCO-TOTAL COST OF OWNERSHIP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8FCDD-124F-487A-9F99-6D0F3BE0E656}" type="slidenum">
              <a:rPr lang="en-GH" smtClean="0"/>
              <a:t>88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53128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13841-D9C8-A390-9275-CEF2E24F3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1800225"/>
            <a:ext cx="8637073" cy="1543504"/>
          </a:xfrm>
        </p:spPr>
        <p:txBody>
          <a:bodyPr/>
          <a:lstStyle/>
          <a:p>
            <a:r>
              <a:rPr lang="en-GB" b="1" dirty="0">
                <a:solidFill>
                  <a:srgbClr val="FF0000"/>
                </a:solidFill>
              </a:rPr>
              <a:t>ERP Life Cycle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1ED45B-40FA-15ED-6E99-154BDB48E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5"/>
            <a:ext cx="8637072" cy="540734"/>
          </a:xfrm>
        </p:spPr>
        <p:txBody>
          <a:bodyPr/>
          <a:lstStyle/>
          <a:p>
            <a:r>
              <a:rPr lang="en-US" dirty="0"/>
              <a:t>BY: PROF. Peter </a:t>
            </a:r>
            <a:r>
              <a:rPr lang="en-US" dirty="0" err="1"/>
              <a:t>appiahene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63545573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FD632-7056-D859-57CF-690CDF9BB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61699"/>
            <a:ext cx="9603275" cy="724244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Introduction to ERP Life Cycle</a:t>
            </a:r>
            <a:endParaRPr lang="en-GH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C54E7-06B7-565F-10A4-2F96D2C8F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78056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500" dirty="0"/>
              <a:t>Describes all phases of ERP deployment and management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500" dirty="0"/>
              <a:t>Covers planning → post-implementation support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500" dirty="0"/>
              <a:t>Critical for:</a:t>
            </a:r>
          </a:p>
          <a:p>
            <a:pPr lvl="1"/>
            <a:r>
              <a:rPr lang="en-US" sz="2500" dirty="0"/>
              <a:t>Successful implementation</a:t>
            </a:r>
          </a:p>
          <a:p>
            <a:pPr lvl="1"/>
            <a:r>
              <a:rPr lang="en-US" sz="2500" dirty="0"/>
              <a:t>Maximizing ROI</a:t>
            </a:r>
          </a:p>
          <a:p>
            <a:pPr lvl="1"/>
            <a:r>
              <a:rPr lang="en-US" sz="2500" dirty="0"/>
              <a:t>Minimizing risk</a:t>
            </a:r>
            <a:endParaRPr lang="en-GH" sz="2500" dirty="0"/>
          </a:p>
        </p:txBody>
      </p:sp>
    </p:spTree>
    <p:extLst>
      <p:ext uri="{BB962C8B-B14F-4D97-AF65-F5344CB8AC3E}">
        <p14:creationId xmlns:p14="http://schemas.microsoft.com/office/powerpoint/2010/main" val="89297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A9381-A449-E743-F71D-32232FFA1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18865"/>
            <a:ext cx="9603275" cy="58713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ERP Life Cycle Phases</a:t>
            </a:r>
            <a:endParaRPr lang="en-GH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9C1AF-E832-4BF9-E9F0-9DFDC2A38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500" dirty="0"/>
              <a:t>Planning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500" dirty="0"/>
              <a:t>Selection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500" dirty="0"/>
              <a:t>Implementation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500" dirty="0"/>
              <a:t>Support &amp; Maintenance</a:t>
            </a:r>
            <a:endParaRPr lang="en-GH" sz="2500" dirty="0"/>
          </a:p>
        </p:txBody>
      </p:sp>
    </p:spTree>
    <p:extLst>
      <p:ext uri="{BB962C8B-B14F-4D97-AF65-F5344CB8AC3E}">
        <p14:creationId xmlns:p14="http://schemas.microsoft.com/office/powerpoint/2010/main" val="865470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D7142-B4F5-BD44-F398-5B2054E12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0276"/>
            <a:ext cx="9603275" cy="70995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Phase 1 – Planning</a:t>
            </a:r>
            <a:endParaRPr lang="en-GH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1A1CA-66D4-E0BE-8DC9-D3AB4B5BF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2786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500" b="1" dirty="0"/>
              <a:t>Overview:</a:t>
            </a:r>
            <a:endParaRPr lang="en-US" sz="2500" dirty="0"/>
          </a:p>
          <a:p>
            <a:pPr lvl="1">
              <a:spcBef>
                <a:spcPts val="0"/>
              </a:spcBef>
            </a:pPr>
            <a:r>
              <a:rPr lang="en-US" sz="2500" dirty="0"/>
              <a:t>Identifies ERP need and sets project goals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500" b="1" dirty="0"/>
              <a:t>Key Activities:</a:t>
            </a:r>
            <a:endParaRPr lang="en-US" sz="2500" dirty="0"/>
          </a:p>
          <a:p>
            <a:pPr lvl="1">
              <a:spcBef>
                <a:spcPts val="0"/>
              </a:spcBef>
            </a:pPr>
            <a:r>
              <a:rPr lang="en-US" sz="2500" dirty="0"/>
              <a:t>Define objectives and scope</a:t>
            </a:r>
          </a:p>
          <a:p>
            <a:pPr lvl="1">
              <a:spcBef>
                <a:spcPts val="0"/>
              </a:spcBef>
            </a:pPr>
            <a:r>
              <a:rPr lang="en-US" sz="2500" dirty="0"/>
              <a:t>Conduct gap analysis</a:t>
            </a:r>
          </a:p>
          <a:p>
            <a:pPr lvl="1">
              <a:spcBef>
                <a:spcPts val="0"/>
              </a:spcBef>
            </a:pPr>
            <a:r>
              <a:rPr lang="en-US" sz="2500" dirty="0"/>
              <a:t>Form ERP project team</a:t>
            </a:r>
          </a:p>
          <a:p>
            <a:pPr lvl="1">
              <a:spcBef>
                <a:spcPts val="0"/>
              </a:spcBef>
            </a:pPr>
            <a:r>
              <a:rPr lang="en-US" sz="2500" dirty="0"/>
              <a:t>Create project plan &amp; budget</a:t>
            </a:r>
          </a:p>
          <a:p>
            <a:pPr lvl="1">
              <a:spcBef>
                <a:spcPts val="0"/>
              </a:spcBef>
            </a:pPr>
            <a:r>
              <a:rPr lang="en-US" sz="2500" dirty="0"/>
              <a:t>Develop change management strategy</a:t>
            </a:r>
          </a:p>
        </p:txBody>
      </p:sp>
    </p:spTree>
    <p:extLst>
      <p:ext uri="{BB962C8B-B14F-4D97-AF65-F5344CB8AC3E}">
        <p14:creationId xmlns:p14="http://schemas.microsoft.com/office/powerpoint/2010/main" val="1880175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9AB9F-6742-AE5B-F385-893498AD6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18866"/>
            <a:ext cx="9603275" cy="58713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Phase 1 – Planning</a:t>
            </a:r>
            <a:endParaRPr lang="en-GH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16BEA-9370-EEA7-698A-F0D430D5A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500" b="1" dirty="0"/>
              <a:t>Key Activities:</a:t>
            </a:r>
            <a:endParaRPr lang="en-US" sz="2500" dirty="0"/>
          </a:p>
          <a:p>
            <a:pPr lvl="1">
              <a:spcBef>
                <a:spcPts val="0"/>
              </a:spcBef>
            </a:pPr>
            <a:r>
              <a:rPr lang="en-US" sz="2500" dirty="0"/>
              <a:t>Stakeholder communication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500" b="1" dirty="0"/>
              <a:t>Outputs:</a:t>
            </a:r>
            <a:endParaRPr lang="en-US" sz="2500" dirty="0"/>
          </a:p>
          <a:p>
            <a:pPr lvl="1">
              <a:spcBef>
                <a:spcPts val="0"/>
              </a:spcBef>
            </a:pPr>
            <a:r>
              <a:rPr lang="en-US" sz="2500" dirty="0"/>
              <a:t>Project charter</a:t>
            </a:r>
          </a:p>
          <a:p>
            <a:pPr lvl="1">
              <a:spcBef>
                <a:spcPts val="0"/>
              </a:spcBef>
            </a:pPr>
            <a:r>
              <a:rPr lang="en-US" sz="2500" dirty="0"/>
              <a:t>Approved scope and budget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500" b="1" dirty="0"/>
              <a:t>Importance:</a:t>
            </a:r>
            <a:endParaRPr lang="en-US" sz="2500" dirty="0"/>
          </a:p>
          <a:p>
            <a:pPr lvl="1">
              <a:spcBef>
                <a:spcPts val="0"/>
              </a:spcBef>
            </a:pPr>
            <a:r>
              <a:rPr lang="en-US" sz="2500" dirty="0"/>
              <a:t>Sets foundation; avoids delays and misalignment</a:t>
            </a:r>
          </a:p>
        </p:txBody>
      </p:sp>
    </p:spTree>
    <p:extLst>
      <p:ext uri="{BB962C8B-B14F-4D97-AF65-F5344CB8AC3E}">
        <p14:creationId xmlns:p14="http://schemas.microsoft.com/office/powerpoint/2010/main" val="3921080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F8212-F910-2218-03FC-CDCC8FB40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18864"/>
            <a:ext cx="9603275" cy="58713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Phase 2 – Selection</a:t>
            </a:r>
            <a:endParaRPr lang="en-GH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D2A0A-0555-054C-3809-621355ED4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01428"/>
            <a:ext cx="9603275" cy="417075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500" b="1" dirty="0"/>
              <a:t>Overview:</a:t>
            </a:r>
            <a:endParaRPr lang="en-US" sz="2500" dirty="0"/>
          </a:p>
          <a:p>
            <a:pPr lvl="1"/>
            <a:r>
              <a:rPr lang="en-US" sz="2500" dirty="0"/>
              <a:t>Evaluate and choose the best-fit ERP system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500" b="1" dirty="0"/>
              <a:t>Key Activities:</a:t>
            </a:r>
            <a:endParaRPr lang="en-US" sz="2500" dirty="0"/>
          </a:p>
          <a:p>
            <a:pPr lvl="1"/>
            <a:r>
              <a:rPr lang="en-US" sz="2500" dirty="0"/>
              <a:t>Define system requirements</a:t>
            </a:r>
          </a:p>
          <a:p>
            <a:pPr lvl="1"/>
            <a:r>
              <a:rPr lang="en-US" sz="2500" dirty="0"/>
              <a:t>Evaluate vendors (features, cost, scalability)</a:t>
            </a:r>
          </a:p>
          <a:p>
            <a:pPr lvl="1"/>
            <a:r>
              <a:rPr lang="en-US" sz="2500" dirty="0"/>
              <a:t>Request proposals or demos</a:t>
            </a:r>
          </a:p>
          <a:p>
            <a:pPr lvl="1"/>
            <a:r>
              <a:rPr lang="en-US" sz="2500" dirty="0"/>
              <a:t>Analyze TCO and ROI</a:t>
            </a:r>
          </a:p>
          <a:p>
            <a:pPr lvl="1"/>
            <a:r>
              <a:rPr lang="en-US" sz="2500" dirty="0"/>
              <a:t>Choose hosting type (cloud/on-premise)</a:t>
            </a:r>
          </a:p>
        </p:txBody>
      </p:sp>
    </p:spTree>
    <p:extLst>
      <p:ext uri="{BB962C8B-B14F-4D97-AF65-F5344CB8AC3E}">
        <p14:creationId xmlns:p14="http://schemas.microsoft.com/office/powerpoint/2010/main" val="2468149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F8212-F910-2218-03FC-CDCC8FB40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18864"/>
            <a:ext cx="9603275" cy="58713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Phase 2 – Selection</a:t>
            </a:r>
            <a:endParaRPr lang="en-GH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D2A0A-0555-054C-3809-621355ED4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01428"/>
            <a:ext cx="9603275" cy="4170759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n-US" sz="2500" dirty="0"/>
              <a:t>Four Main Pillars of  TCO</a:t>
            </a:r>
          </a:p>
          <a:p>
            <a:pPr lvl="1"/>
            <a:r>
              <a:rPr lang="en-US" sz="2800" dirty="0"/>
              <a:t>Acquisition &amp; Implementation</a:t>
            </a:r>
          </a:p>
          <a:p>
            <a:pPr lvl="1"/>
            <a:r>
              <a:rPr lang="en-US" sz="2800" u="none" strike="noStrike" dirty="0">
                <a:effectLst/>
                <a:latin typeface="Google Sans"/>
              </a:rPr>
              <a:t>Operating Costs</a:t>
            </a:r>
          </a:p>
          <a:p>
            <a:pPr lvl="1"/>
            <a:r>
              <a:rPr lang="en-US" sz="2800" dirty="0"/>
              <a:t>Maintenance &amp; Support Costs</a:t>
            </a:r>
            <a:endParaRPr lang="en-US" sz="2800" b="1" dirty="0">
              <a:latin typeface="Google Sans"/>
            </a:endParaRPr>
          </a:p>
          <a:p>
            <a:pPr lvl="1"/>
            <a:r>
              <a:rPr lang="en-US" sz="2800" dirty="0"/>
              <a:t>End-of-Life (Disposal) Costs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4120164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F8212-F910-2218-03FC-CDCC8FB40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18864"/>
            <a:ext cx="9603275" cy="58713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Phase 2 – Selection</a:t>
            </a:r>
            <a:endParaRPr lang="en-GH" sz="36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2D2A0A-0555-054C-3809-621355ED41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1579" y="1901428"/>
                <a:ext cx="9603275" cy="4170759"/>
              </a:xfrm>
            </p:spPr>
            <p:txBody>
              <a:bodyPr>
                <a:noAutofit/>
              </a:bodyPr>
              <a:lstStyle/>
              <a:p>
                <a:pPr marL="457200" lvl="1" indent="0">
                  <a:buNone/>
                </a:pPr>
                <a:r>
                  <a:rPr lang="en-US" sz="2500" dirty="0"/>
                  <a:t>ROI </a:t>
                </a:r>
              </a:p>
              <a:p>
                <a:pPr marL="457200" lvl="1" indent="0">
                  <a:buNone/>
                </a:pPr>
                <a:endParaRPr lang="en-US" sz="25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𝑅𝑂𝐼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%=</m:t>
                      </m:r>
                      <m:f>
                        <m:fPr>
                          <m:ctrlPr>
                            <a:rPr lang="en-US" sz="25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𝐵𝑒𝑛𝑒𝑓𝑖𝑡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𝐶𝑜𝑠𝑡</m:t>
                          </m:r>
                        </m:num>
                        <m:den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𝐶𝑜𝑠𝑡</m:t>
                          </m:r>
                        </m:den>
                      </m:f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 ∗100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2D2A0A-0555-054C-3809-621355ED41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1579" y="1901428"/>
                <a:ext cx="9603275" cy="4170759"/>
              </a:xfrm>
              <a:blipFill>
                <a:blip r:embed="rId3"/>
                <a:stretch>
                  <a:fillRect t="-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4771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F8212-F910-2218-03FC-CDCC8FB40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18864"/>
            <a:ext cx="9603275" cy="58713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Phase 2 – Selection</a:t>
            </a:r>
            <a:endParaRPr lang="en-GH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D2A0A-0555-054C-3809-621355ED4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01428"/>
            <a:ext cx="9603275" cy="4170759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n-US" sz="2500" dirty="0"/>
              <a:t>Key ROI Indicators</a:t>
            </a:r>
          </a:p>
          <a:p>
            <a:pPr marL="457200" lvl="1" indent="0">
              <a:buNone/>
            </a:pPr>
            <a:r>
              <a:rPr lang="en-US" sz="2800" b="1" dirty="0"/>
              <a:t>Payback Period</a:t>
            </a:r>
            <a:r>
              <a:rPr lang="en-US" sz="2800" dirty="0"/>
              <a:t>: The length of time it takes for the business's operational gains to recover the initial implementation costs.</a:t>
            </a:r>
          </a:p>
          <a:p>
            <a:pPr marL="457200" lvl="1" indent="0">
              <a:buNone/>
            </a:pPr>
            <a:r>
              <a:rPr lang="en-US" sz="2800" b="1" u="none" strike="noStrike" dirty="0">
                <a:effectLst/>
                <a:latin typeface="Google Sans"/>
              </a:rPr>
              <a:t>Time to Value (TTV):</a:t>
            </a:r>
            <a:r>
              <a:rPr lang="en-US" sz="2800" dirty="0"/>
              <a:t> How quickly the organization realizes noticeable benefits and improved workflows after going live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977648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B328F-E574-D38A-1C6A-D9A1642DF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18864"/>
            <a:ext cx="9603275" cy="58713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Phase 2 – Selection</a:t>
            </a:r>
            <a:endParaRPr lang="en-GH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AC57C-012F-F2DC-DED7-36334A1A9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278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500" b="1" dirty="0"/>
              <a:t>Key Activities:</a:t>
            </a:r>
            <a:endParaRPr lang="en-US" sz="2500" dirty="0"/>
          </a:p>
          <a:p>
            <a:pPr lvl="1"/>
            <a:r>
              <a:rPr lang="en-US" sz="2500" dirty="0"/>
              <a:t>Select implementation partner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500" b="1" dirty="0"/>
              <a:t>Selection Criteria:</a:t>
            </a:r>
            <a:endParaRPr lang="en-US" sz="2500" dirty="0"/>
          </a:p>
          <a:p>
            <a:pPr lvl="1"/>
            <a:r>
              <a:rPr lang="en-US" sz="2500" dirty="0"/>
              <a:t>Industry fit</a:t>
            </a:r>
          </a:p>
          <a:p>
            <a:pPr lvl="1"/>
            <a:r>
              <a:rPr lang="en-US" sz="2500" dirty="0"/>
              <a:t>Customization &amp; integration options</a:t>
            </a:r>
          </a:p>
          <a:p>
            <a:pPr lvl="1"/>
            <a:r>
              <a:rPr lang="en-US" sz="2500" dirty="0"/>
              <a:t>Vendor reputation &amp; support</a:t>
            </a:r>
          </a:p>
          <a:p>
            <a:pPr lvl="1"/>
            <a:r>
              <a:rPr lang="en-US" sz="2500" dirty="0"/>
              <a:t>Usability &amp; training resources</a:t>
            </a:r>
          </a:p>
        </p:txBody>
      </p:sp>
    </p:spTree>
    <p:extLst>
      <p:ext uri="{BB962C8B-B14F-4D97-AF65-F5344CB8AC3E}">
        <p14:creationId xmlns:p14="http://schemas.microsoft.com/office/powerpoint/2010/main" val="3483513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60932-074F-4C4A-997A-0E038D0B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18860"/>
            <a:ext cx="9603275" cy="58713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Phase 2 – Selection</a:t>
            </a:r>
            <a:endParaRPr lang="en-GH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E7ED9-3BC2-91D9-A5E5-393AD522C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500" b="1" dirty="0"/>
              <a:t>Outputs:</a:t>
            </a:r>
            <a:endParaRPr lang="en-US" sz="2500" dirty="0"/>
          </a:p>
          <a:p>
            <a:pPr lvl="1"/>
            <a:r>
              <a:rPr lang="en-US" sz="2500" dirty="0"/>
              <a:t>ERP vendor selected</a:t>
            </a:r>
          </a:p>
          <a:p>
            <a:pPr lvl="1"/>
            <a:r>
              <a:rPr lang="en-US" sz="2500" dirty="0"/>
              <a:t>Contracts signed</a:t>
            </a:r>
          </a:p>
          <a:p>
            <a:pPr lvl="1"/>
            <a:r>
              <a:rPr lang="en-US" sz="2500" dirty="0"/>
              <a:t>Implementation roadmap</a:t>
            </a:r>
          </a:p>
        </p:txBody>
      </p:sp>
    </p:spTree>
    <p:extLst>
      <p:ext uri="{BB962C8B-B14F-4D97-AF65-F5344CB8AC3E}">
        <p14:creationId xmlns:p14="http://schemas.microsoft.com/office/powerpoint/2010/main" val="2982679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FC10A-CD59-5F3F-9083-9C48CB06B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18864"/>
            <a:ext cx="9603275" cy="58713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Phase 3 – Implementation</a:t>
            </a:r>
            <a:endParaRPr lang="en-GH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641D8-8191-5E10-AE1C-1BC6D1108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87140"/>
            <a:ext cx="9603275" cy="411361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500" b="1" dirty="0"/>
              <a:t>Overview:</a:t>
            </a:r>
            <a:endParaRPr lang="en-US" sz="2500" dirty="0"/>
          </a:p>
          <a:p>
            <a:pPr lvl="1">
              <a:spcBef>
                <a:spcPts val="0"/>
              </a:spcBef>
            </a:pPr>
            <a:r>
              <a:rPr lang="en-US" sz="2500" dirty="0"/>
              <a:t>ERP system is configured, tested, and deployed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500" b="1" dirty="0"/>
              <a:t>Key Activities:</a:t>
            </a:r>
            <a:endParaRPr lang="en-US" sz="2500" dirty="0"/>
          </a:p>
          <a:p>
            <a:pPr lvl="1">
              <a:spcBef>
                <a:spcPts val="0"/>
              </a:spcBef>
            </a:pPr>
            <a:r>
              <a:rPr lang="en-US" sz="2500" dirty="0"/>
              <a:t>System design and configuration</a:t>
            </a:r>
          </a:p>
          <a:p>
            <a:pPr lvl="1">
              <a:spcBef>
                <a:spcPts val="0"/>
              </a:spcBef>
            </a:pPr>
            <a:r>
              <a:rPr lang="en-US" sz="2500" dirty="0"/>
              <a:t>Data migration</a:t>
            </a:r>
          </a:p>
          <a:p>
            <a:pPr lvl="1">
              <a:spcBef>
                <a:spcPts val="0"/>
              </a:spcBef>
            </a:pPr>
            <a:r>
              <a:rPr lang="en-US" sz="2500" dirty="0"/>
              <a:t>Customization &amp; module integration</a:t>
            </a:r>
          </a:p>
          <a:p>
            <a:pPr lvl="1">
              <a:spcBef>
                <a:spcPts val="0"/>
              </a:spcBef>
            </a:pPr>
            <a:r>
              <a:rPr lang="en-US" sz="2500" dirty="0"/>
              <a:t>Testing (unit, system, User Acceptance Testing)</a:t>
            </a:r>
          </a:p>
          <a:p>
            <a:pPr lvl="1">
              <a:spcBef>
                <a:spcPts val="0"/>
              </a:spcBef>
            </a:pPr>
            <a:r>
              <a:rPr lang="en-US" sz="2500" dirty="0"/>
              <a:t>End-user training</a:t>
            </a:r>
          </a:p>
          <a:p>
            <a:pPr lvl="1">
              <a:spcBef>
                <a:spcPts val="0"/>
              </a:spcBef>
            </a:pPr>
            <a:r>
              <a:rPr lang="en-US" sz="2500" dirty="0"/>
              <a:t>Pilot and Go-live</a:t>
            </a:r>
          </a:p>
        </p:txBody>
      </p:sp>
    </p:spTree>
    <p:extLst>
      <p:ext uri="{BB962C8B-B14F-4D97-AF65-F5344CB8AC3E}">
        <p14:creationId xmlns:p14="http://schemas.microsoft.com/office/powerpoint/2010/main" val="1596645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4CE47-38A2-3927-5309-06DE62791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18859"/>
            <a:ext cx="9603275" cy="58713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Phase 3 – Implementation</a:t>
            </a:r>
            <a:endParaRPr lang="en-GH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FF42C-4271-C26D-3155-E146DF2D0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7074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500" b="1" dirty="0"/>
              <a:t>Project Management Tips:</a:t>
            </a:r>
            <a:endParaRPr lang="en-US" sz="2500" dirty="0"/>
          </a:p>
          <a:p>
            <a:pPr lvl="1">
              <a:spcBef>
                <a:spcPts val="0"/>
              </a:spcBef>
            </a:pPr>
            <a:r>
              <a:rPr lang="en-US" sz="2500" dirty="0"/>
              <a:t>Use agile/waterfall methods</a:t>
            </a:r>
          </a:p>
          <a:p>
            <a:pPr lvl="1">
              <a:spcBef>
                <a:spcPts val="0"/>
              </a:spcBef>
            </a:pPr>
            <a:r>
              <a:rPr lang="en-US" sz="2500" dirty="0"/>
              <a:t>Monitor KPIs</a:t>
            </a:r>
          </a:p>
          <a:p>
            <a:pPr lvl="1">
              <a:spcBef>
                <a:spcPts val="0"/>
              </a:spcBef>
            </a:pPr>
            <a:r>
              <a:rPr lang="en-US" sz="2500" dirty="0"/>
              <a:t>Maintain strong communication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500" b="1" dirty="0"/>
              <a:t>Outputs:</a:t>
            </a:r>
            <a:endParaRPr lang="en-US" sz="2500" dirty="0"/>
          </a:p>
          <a:p>
            <a:pPr lvl="1">
              <a:spcBef>
                <a:spcPts val="0"/>
              </a:spcBef>
            </a:pPr>
            <a:r>
              <a:rPr lang="en-US" sz="2500" dirty="0"/>
              <a:t>Operational ERP system</a:t>
            </a:r>
          </a:p>
          <a:p>
            <a:pPr lvl="1">
              <a:spcBef>
                <a:spcPts val="0"/>
              </a:spcBef>
            </a:pPr>
            <a:r>
              <a:rPr lang="en-US" sz="2500" dirty="0"/>
              <a:t>Trained workforce</a:t>
            </a:r>
          </a:p>
          <a:p>
            <a:pPr lvl="1">
              <a:spcBef>
                <a:spcPts val="0"/>
              </a:spcBef>
            </a:pPr>
            <a:r>
              <a:rPr lang="en-US" sz="2500" dirty="0"/>
              <a:t>Clean migrated data</a:t>
            </a:r>
          </a:p>
        </p:txBody>
      </p:sp>
    </p:spTree>
    <p:extLst>
      <p:ext uri="{BB962C8B-B14F-4D97-AF65-F5344CB8AC3E}">
        <p14:creationId xmlns:p14="http://schemas.microsoft.com/office/powerpoint/2010/main" val="379863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87E8A-3E82-42C7-85AD-283C1A92D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18864"/>
            <a:ext cx="9603275" cy="58713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Phase 3 – Implementation</a:t>
            </a:r>
            <a:endParaRPr lang="en-GH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E9246-4E6D-A1B6-DCCE-9E6C354A1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500" b="1" dirty="0"/>
              <a:t>Challenges:</a:t>
            </a:r>
            <a:endParaRPr lang="en-US" sz="2500" dirty="0"/>
          </a:p>
          <a:p>
            <a:pPr lvl="1"/>
            <a:r>
              <a:rPr lang="en-US" sz="2500" dirty="0"/>
              <a:t>Change resistance</a:t>
            </a:r>
          </a:p>
          <a:p>
            <a:pPr lvl="1"/>
            <a:r>
              <a:rPr lang="en-US" sz="2500" dirty="0"/>
              <a:t>Data quality issues</a:t>
            </a:r>
          </a:p>
          <a:p>
            <a:pPr lvl="1"/>
            <a:r>
              <a:rPr lang="en-US" sz="2500" dirty="0"/>
              <a:t>Training gaps</a:t>
            </a:r>
          </a:p>
          <a:p>
            <a:pPr lvl="1"/>
            <a:r>
              <a:rPr lang="en-US" sz="2500" dirty="0"/>
              <a:t>Integration complexities</a:t>
            </a:r>
          </a:p>
        </p:txBody>
      </p:sp>
    </p:spTree>
    <p:extLst>
      <p:ext uri="{BB962C8B-B14F-4D97-AF65-F5344CB8AC3E}">
        <p14:creationId xmlns:p14="http://schemas.microsoft.com/office/powerpoint/2010/main" val="378376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F3CC2-B894-6F9D-99D4-94C495EF9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18862"/>
            <a:ext cx="9603275" cy="58713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Phase 4 – Support &amp; Maintenance</a:t>
            </a:r>
            <a:endParaRPr lang="en-GH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7B2EC-F824-6603-26BB-717977906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15717"/>
            <a:ext cx="9603275" cy="405645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500" b="1" dirty="0"/>
              <a:t>Overview:</a:t>
            </a:r>
            <a:endParaRPr lang="en-US" sz="2500" dirty="0"/>
          </a:p>
          <a:p>
            <a:pPr lvl="1">
              <a:spcBef>
                <a:spcPts val="0"/>
              </a:spcBef>
            </a:pPr>
            <a:r>
              <a:rPr lang="en-US" sz="2500" dirty="0"/>
              <a:t>Focuses on system stabilization and continuous improvement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500" b="1" dirty="0"/>
              <a:t>Key Activities:</a:t>
            </a:r>
            <a:endParaRPr lang="en-US" sz="2500" dirty="0"/>
          </a:p>
          <a:p>
            <a:pPr lvl="1">
              <a:spcBef>
                <a:spcPts val="0"/>
              </a:spcBef>
            </a:pPr>
            <a:r>
              <a:rPr lang="en-US" sz="2500" dirty="0"/>
              <a:t>Helpdesk support</a:t>
            </a:r>
          </a:p>
          <a:p>
            <a:pPr lvl="1">
              <a:spcBef>
                <a:spcPts val="0"/>
              </a:spcBef>
            </a:pPr>
            <a:r>
              <a:rPr lang="en-US" sz="2500" dirty="0"/>
              <a:t>Bug fixing &amp; tuning</a:t>
            </a:r>
          </a:p>
          <a:p>
            <a:pPr lvl="1">
              <a:spcBef>
                <a:spcPts val="0"/>
              </a:spcBef>
            </a:pPr>
            <a:r>
              <a:rPr lang="en-US" sz="2500" dirty="0"/>
              <a:t>Patches &amp; updates</a:t>
            </a:r>
          </a:p>
          <a:p>
            <a:pPr lvl="1">
              <a:spcBef>
                <a:spcPts val="0"/>
              </a:spcBef>
            </a:pPr>
            <a:r>
              <a:rPr lang="en-US" sz="2500" dirty="0"/>
              <a:t>Ongoing training</a:t>
            </a:r>
          </a:p>
          <a:p>
            <a:pPr lvl="1">
              <a:spcBef>
                <a:spcPts val="0"/>
              </a:spcBef>
            </a:pPr>
            <a:r>
              <a:rPr lang="en-US" sz="2500" dirty="0"/>
              <a:t>System audits &amp; feedback collection</a:t>
            </a:r>
          </a:p>
          <a:p>
            <a:pPr lvl="1">
              <a:spcBef>
                <a:spcPts val="0"/>
              </a:spcBef>
            </a:pPr>
            <a:r>
              <a:rPr lang="en-US" sz="2500" dirty="0"/>
              <a:t>Performance &amp; security monitoring</a:t>
            </a:r>
          </a:p>
        </p:txBody>
      </p:sp>
    </p:spTree>
    <p:extLst>
      <p:ext uri="{BB962C8B-B14F-4D97-AF65-F5344CB8AC3E}">
        <p14:creationId xmlns:p14="http://schemas.microsoft.com/office/powerpoint/2010/main" val="2406415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F8779-4E9F-35CD-A0F0-48E4072A5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04574"/>
            <a:ext cx="9603275" cy="58713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Phase 4 – Support &amp; Maintenance</a:t>
            </a:r>
            <a:endParaRPr lang="en-GH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DCDD9-205B-68A9-172F-2D2C9A47D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1359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500" b="1" dirty="0"/>
              <a:t>Outputs:</a:t>
            </a:r>
            <a:endParaRPr lang="en-US" sz="2500" dirty="0"/>
          </a:p>
          <a:p>
            <a:pPr lvl="1"/>
            <a:r>
              <a:rPr lang="en-US" sz="2500" dirty="0"/>
              <a:t>Stable operations</a:t>
            </a:r>
          </a:p>
          <a:p>
            <a:pPr lvl="1"/>
            <a:r>
              <a:rPr lang="en-US" sz="2500" dirty="0"/>
              <a:t>Satisfied users</a:t>
            </a:r>
          </a:p>
          <a:p>
            <a:pPr lvl="1"/>
            <a:r>
              <a:rPr lang="en-US" sz="2500" dirty="0"/>
              <a:t>Enhanced system functionality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500" b="1" dirty="0"/>
              <a:t>Importance:</a:t>
            </a:r>
            <a:endParaRPr lang="en-US" sz="2500" dirty="0"/>
          </a:p>
          <a:p>
            <a:pPr lvl="1"/>
            <a:r>
              <a:rPr lang="en-US" sz="2500" dirty="0"/>
              <a:t>Maintains system value</a:t>
            </a:r>
          </a:p>
          <a:p>
            <a:pPr lvl="1"/>
            <a:r>
              <a:rPr lang="en-US" sz="2500" dirty="0"/>
              <a:t>Prevents ROI erosion</a:t>
            </a:r>
          </a:p>
        </p:txBody>
      </p:sp>
    </p:spTree>
    <p:extLst>
      <p:ext uri="{BB962C8B-B14F-4D97-AF65-F5344CB8AC3E}">
        <p14:creationId xmlns:p14="http://schemas.microsoft.com/office/powerpoint/2010/main" val="1558018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51BC5-48D0-F775-B48E-D5B03270E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75999"/>
            <a:ext cx="9603275" cy="624231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Summary Table – ERP Life Cycle</a:t>
            </a:r>
            <a:endParaRPr lang="en-GH" sz="3600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4B1FC4-E1E9-4B4A-096A-1D5F600C86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2663424"/>
              </p:ext>
            </p:extLst>
          </p:nvPr>
        </p:nvGraphicFramePr>
        <p:xfrm>
          <a:off x="1450975" y="2015006"/>
          <a:ext cx="9604374" cy="388620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201458">
                  <a:extLst>
                    <a:ext uri="{9D8B030D-6E8A-4147-A177-3AD203B41FA5}">
                      <a16:colId xmlns:a16="http://schemas.microsoft.com/office/drawing/2014/main" val="220642504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3828519343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32292545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500" b="1"/>
                        <a:t>Phase</a:t>
                      </a:r>
                      <a:endParaRPr lang="en-US" sz="2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500" b="1"/>
                        <a:t>Objective</a:t>
                      </a:r>
                      <a:endParaRPr lang="en-US" sz="2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500" b="1"/>
                        <a:t>Key Deliverables</a:t>
                      </a:r>
                      <a:endParaRPr lang="en-US" sz="25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7214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500" dirty="0"/>
                        <a:t>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Prepare the organization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Scope, budget, team, change strategy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7683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500"/>
                        <a:t>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Choose the right ERP 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Vendor, license, roadmap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66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500"/>
                        <a:t>Implementation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Deploy and configure the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Live system, trained users, clean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8977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500"/>
                        <a:t>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500" dirty="0"/>
                        <a:t>Maintain and improve the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500" dirty="0"/>
                        <a:t>Stable operations, ongoing user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3905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40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DBD6D-1C13-6189-5001-325097719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04574"/>
            <a:ext cx="9603275" cy="58713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ERP Life Cycle Best Practices</a:t>
            </a:r>
            <a:endParaRPr lang="en-GH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BD842-E5D4-17B4-1364-020910D0A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Secure executive support early</a:t>
            </a:r>
          </a:p>
          <a:p>
            <a:r>
              <a:rPr lang="en-US" sz="2500" dirty="0"/>
              <a:t>Collaborate across departments</a:t>
            </a:r>
          </a:p>
          <a:p>
            <a:r>
              <a:rPr lang="en-US" sz="2500" dirty="0"/>
              <a:t>Invest in change management &amp; training</a:t>
            </a:r>
          </a:p>
          <a:p>
            <a:r>
              <a:rPr lang="en-US" sz="2500" dirty="0"/>
              <a:t>Use consultants for expertise</a:t>
            </a:r>
          </a:p>
          <a:p>
            <a:r>
              <a:rPr lang="en-US" sz="2500" dirty="0"/>
              <a:t>Track KPIs (cost, downtime, adoption)</a:t>
            </a:r>
          </a:p>
          <a:p>
            <a:r>
              <a:rPr lang="en-US" sz="2500" dirty="0"/>
              <a:t>Plan for scalability and upgrades</a:t>
            </a:r>
            <a:endParaRPr lang="en-GH" sz="2500" dirty="0"/>
          </a:p>
        </p:txBody>
      </p:sp>
    </p:spTree>
    <p:extLst>
      <p:ext uri="{BB962C8B-B14F-4D97-AF65-F5344CB8AC3E}">
        <p14:creationId xmlns:p14="http://schemas.microsoft.com/office/powerpoint/2010/main" val="2877040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DDAA1-3C52-1E24-27EF-3F7157176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18866"/>
            <a:ext cx="9603275" cy="58713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Conclusion</a:t>
            </a:r>
            <a:endParaRPr lang="en-GH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CA769-90B3-77B8-7B23-BA44D696C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4214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500" dirty="0"/>
              <a:t>ERP life cycle = strategic transformation, not just software setup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500" dirty="0"/>
              <a:t>Success requires:</a:t>
            </a:r>
          </a:p>
          <a:p>
            <a:pPr lvl="1"/>
            <a:r>
              <a:rPr lang="en-US" sz="2500" dirty="0"/>
              <a:t>Detailed planning</a:t>
            </a:r>
          </a:p>
          <a:p>
            <a:pPr lvl="1"/>
            <a:r>
              <a:rPr lang="en-US" sz="2500" dirty="0"/>
              <a:t>Smart system selection</a:t>
            </a:r>
          </a:p>
          <a:p>
            <a:pPr lvl="1"/>
            <a:r>
              <a:rPr lang="en-US" sz="2500" dirty="0"/>
              <a:t>Effective implementation</a:t>
            </a:r>
          </a:p>
          <a:p>
            <a:pPr lvl="1"/>
            <a:r>
              <a:rPr lang="en-US" sz="2500" dirty="0"/>
              <a:t>Continuous support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500" dirty="0"/>
              <a:t>When managed well, ERP drives long-term agility and growth</a:t>
            </a:r>
            <a:endParaRPr lang="en-GH" sz="2500" dirty="0"/>
          </a:p>
        </p:txBody>
      </p:sp>
    </p:spTree>
    <p:extLst>
      <p:ext uri="{BB962C8B-B14F-4D97-AF65-F5344CB8AC3E}">
        <p14:creationId xmlns:p14="http://schemas.microsoft.com/office/powerpoint/2010/main" val="267324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8202</TotalTime>
  <Words>6227</Words>
  <Application>Microsoft Office PowerPoint</Application>
  <PresentationFormat>Widescreen</PresentationFormat>
  <Paragraphs>1340</Paragraphs>
  <Slides>208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208</vt:i4>
      </vt:variant>
    </vt:vector>
  </HeadingPairs>
  <TitlesOfParts>
    <vt:vector size="216" baseType="lpstr">
      <vt:lpstr>Arial</vt:lpstr>
      <vt:lpstr>Calibri</vt:lpstr>
      <vt:lpstr>Cambria Math</vt:lpstr>
      <vt:lpstr>Courier New</vt:lpstr>
      <vt:lpstr>Gill Sans MT</vt:lpstr>
      <vt:lpstr>Google Sans</vt:lpstr>
      <vt:lpstr>Wingdings</vt:lpstr>
      <vt:lpstr>Gallery</vt:lpstr>
      <vt:lpstr>inft 456: Introduction to ERP (Enterprise Resource Planning)</vt:lpstr>
      <vt:lpstr>What is ERP?</vt:lpstr>
      <vt:lpstr>History of ERP Systems</vt:lpstr>
      <vt:lpstr>History of ERP Systems</vt:lpstr>
      <vt:lpstr>History of ERP Systems</vt:lpstr>
      <vt:lpstr>History of ERP Systems</vt:lpstr>
      <vt:lpstr>History of ERP Systems</vt:lpstr>
      <vt:lpstr>ERP System Evolution Summary</vt:lpstr>
      <vt:lpstr>Why Organizations Needed Integration</vt:lpstr>
      <vt:lpstr>Benefits of ERP Integration</vt:lpstr>
      <vt:lpstr>Benefits of ERP Integration</vt:lpstr>
      <vt:lpstr>Examples of ERP Systems</vt:lpstr>
      <vt:lpstr>Conclusion</vt:lpstr>
      <vt:lpstr>THANK YOU!</vt:lpstr>
      <vt:lpstr>ERP Architecture and Components</vt:lpstr>
      <vt:lpstr>What is ERP Architecture?</vt:lpstr>
      <vt:lpstr>ERP System Architecture Types</vt:lpstr>
      <vt:lpstr>Client-Server Architecture</vt:lpstr>
      <vt:lpstr>Client-Server Models</vt:lpstr>
      <vt:lpstr>PowerPoint Presentation</vt:lpstr>
      <vt:lpstr>Client-Server Models</vt:lpstr>
      <vt:lpstr>PowerPoint Presentation</vt:lpstr>
      <vt:lpstr>Client-Server Pros &amp; Cons</vt:lpstr>
      <vt:lpstr>Client-Server Pros &amp; Cons</vt:lpstr>
      <vt:lpstr>Cloud-Based ERP Architecture</vt:lpstr>
      <vt:lpstr>Cloud Deployment Models</vt:lpstr>
      <vt:lpstr>Cloud Architecture Layers</vt:lpstr>
      <vt:lpstr>Cloud ERP Pros &amp; Cons</vt:lpstr>
      <vt:lpstr>Cloud ERP Pros &amp; Cons</vt:lpstr>
      <vt:lpstr>Database Layer in ERP Systems</vt:lpstr>
      <vt:lpstr>Common ERP Databases</vt:lpstr>
      <vt:lpstr>ERP Architecture Layers Summary</vt:lpstr>
      <vt:lpstr>Key ERP System Components</vt:lpstr>
      <vt:lpstr>Choosing the Right ERP Architecture</vt:lpstr>
      <vt:lpstr>Conclusion</vt:lpstr>
      <vt:lpstr>THANK YOU!</vt:lpstr>
      <vt:lpstr>Introduction to Business Process Mapping</vt:lpstr>
      <vt:lpstr>Introduction</vt:lpstr>
      <vt:lpstr>Benefits of Business Process Mapping</vt:lpstr>
      <vt:lpstr>Common Tools &amp; Techniques</vt:lpstr>
      <vt:lpstr>Key Elements of a Process Map</vt:lpstr>
      <vt:lpstr>Modeling Finance Workflows</vt:lpstr>
      <vt:lpstr>Modeling Finance Workflows</vt:lpstr>
      <vt:lpstr>Modeling HR Workflows</vt:lpstr>
      <vt:lpstr>Modeling HR Workflows</vt:lpstr>
      <vt:lpstr>Modeling Logistics Workflows</vt:lpstr>
      <vt:lpstr>Modeling Logistics Workflows</vt:lpstr>
      <vt:lpstr>Best Practices in BPM</vt:lpstr>
      <vt:lpstr>BPM in ERP Implementation</vt:lpstr>
      <vt:lpstr>BPM Tools Overview</vt:lpstr>
      <vt:lpstr>Conclusion</vt:lpstr>
      <vt:lpstr>THANK YOU!</vt:lpstr>
      <vt:lpstr>ERP Functional Modules</vt:lpstr>
      <vt:lpstr>Introduction to ERP Functional Modules</vt:lpstr>
      <vt:lpstr>Introduction to ERP Functional Modules</vt:lpstr>
      <vt:lpstr>Supply Chain Management (SCM) Module</vt:lpstr>
      <vt:lpstr>Supply Chain Management (SCM) Module</vt:lpstr>
      <vt:lpstr>Supply Chain Management (SCM) Module</vt:lpstr>
      <vt:lpstr>Supply Chain Management (SCM) Module</vt:lpstr>
      <vt:lpstr>Supply Chain Management (SCM) Module</vt:lpstr>
      <vt:lpstr>Supply Chain Management (SCM) Module</vt:lpstr>
      <vt:lpstr>Supply Chain Management (SCM) Module</vt:lpstr>
      <vt:lpstr>Supply Chain Management (SCM) Module</vt:lpstr>
      <vt:lpstr>Supply Chain Management (SCM) Module</vt:lpstr>
      <vt:lpstr>Supply Chain Management (SCM) Module</vt:lpstr>
      <vt:lpstr>Supply Chain Management (SCM) Module</vt:lpstr>
      <vt:lpstr>Customer Relationship Management (CRM) Module</vt:lpstr>
      <vt:lpstr>Customer Relationship Management (CRM) Module</vt:lpstr>
      <vt:lpstr>Customer Relationship Management (CRM) Module</vt:lpstr>
      <vt:lpstr>Human Resource Management (HRM) Module</vt:lpstr>
      <vt:lpstr>Human Resource Management (HRM) Module</vt:lpstr>
      <vt:lpstr>Human Resource Management (HRM) Module</vt:lpstr>
      <vt:lpstr>Finance and Accounting Module</vt:lpstr>
      <vt:lpstr>Finance and Accounting Module</vt:lpstr>
      <vt:lpstr>Finance and Accounting Module</vt:lpstr>
      <vt:lpstr>Integration Across Modules</vt:lpstr>
      <vt:lpstr>Summary Table of Functional Modules</vt:lpstr>
      <vt:lpstr>Conclusion</vt:lpstr>
      <vt:lpstr>THANK YOU!</vt:lpstr>
      <vt:lpstr>ERP Life Cycle</vt:lpstr>
      <vt:lpstr>Introduction to ERP Life Cycle</vt:lpstr>
      <vt:lpstr>ERP Life Cycle Phases</vt:lpstr>
      <vt:lpstr>Phase 1 – Planning</vt:lpstr>
      <vt:lpstr>Phase 1 – Planning</vt:lpstr>
      <vt:lpstr>Phase 2 – Selection</vt:lpstr>
      <vt:lpstr>Phase 2 – Selection</vt:lpstr>
      <vt:lpstr>Phase 2 – Selection</vt:lpstr>
      <vt:lpstr>Phase 2 – Selection</vt:lpstr>
      <vt:lpstr>Phase 2 – Selection</vt:lpstr>
      <vt:lpstr>Phase 2 – Selection</vt:lpstr>
      <vt:lpstr>Phase 3 – Implementation</vt:lpstr>
      <vt:lpstr>Phase 3 – Implementation</vt:lpstr>
      <vt:lpstr>Phase 3 – Implementation</vt:lpstr>
      <vt:lpstr>Phase 4 – Support &amp; Maintenance</vt:lpstr>
      <vt:lpstr>Phase 4 – Support &amp; Maintenance</vt:lpstr>
      <vt:lpstr>Summary Table – ERP Life Cycle</vt:lpstr>
      <vt:lpstr>ERP Life Cycle Best Practices</vt:lpstr>
      <vt:lpstr>Conclusion</vt:lpstr>
      <vt:lpstr>THANK YOU!</vt:lpstr>
      <vt:lpstr>ERP and Business Strategy - (Alignment with Organizational Goals)</vt:lpstr>
      <vt:lpstr>Introduction</vt:lpstr>
      <vt:lpstr>What is Business Strategy?</vt:lpstr>
      <vt:lpstr>ERP as a Strategic Tool</vt:lpstr>
      <vt:lpstr>Aligning ERP with Goals</vt:lpstr>
      <vt:lpstr>ERP in Strategic Business Areas</vt:lpstr>
      <vt:lpstr>ERP in Strategic Business Areas</vt:lpstr>
      <vt:lpstr>Case Example – Manufacturing Firm</vt:lpstr>
      <vt:lpstr>Risks of Misalignment</vt:lpstr>
      <vt:lpstr>Best Practices for Alignment</vt:lpstr>
      <vt:lpstr>Conclusion</vt:lpstr>
      <vt:lpstr>THANK YOU!</vt:lpstr>
      <vt:lpstr>Change Management, Training, and Data Migration</vt:lpstr>
      <vt:lpstr>Introduction</vt:lpstr>
      <vt:lpstr>Change Management – What &amp; Why</vt:lpstr>
      <vt:lpstr>Change Management – Challenges &amp; Solutions</vt:lpstr>
      <vt:lpstr>Change Management – Challenges &amp; Solutions</vt:lpstr>
      <vt:lpstr>Training – Why It Matters</vt:lpstr>
      <vt:lpstr>Training – Challenges &amp; Types</vt:lpstr>
      <vt:lpstr>Training – Challenges &amp; Types</vt:lpstr>
      <vt:lpstr>Training – Best Practices</vt:lpstr>
      <vt:lpstr>Data Migration – What &amp; Why</vt:lpstr>
      <vt:lpstr>Data Migration – Steps &amp; Best Practices</vt:lpstr>
      <vt:lpstr>Data Migration – Steps &amp; Best Practices</vt:lpstr>
      <vt:lpstr>Interconnection of Challenges</vt:lpstr>
      <vt:lpstr>Interconnection of Challenges</vt:lpstr>
      <vt:lpstr>Real-World Example</vt:lpstr>
      <vt:lpstr>Conclusion</vt:lpstr>
      <vt:lpstr>THANK YOU!</vt:lpstr>
      <vt:lpstr>Hands-on Training with Odoo &amp; SAP</vt:lpstr>
      <vt:lpstr>Introduction to Hands-On ERP Lab</vt:lpstr>
      <vt:lpstr>ERP Platforms Overview</vt:lpstr>
      <vt:lpstr>ERP Platforms Overview</vt:lpstr>
      <vt:lpstr>Basic Navigation – Odoo</vt:lpstr>
      <vt:lpstr>Basic Navigation – SAP</vt:lpstr>
      <vt:lpstr>Key SAP Transaction Codes</vt:lpstr>
      <vt:lpstr>User Roles and Access Control</vt:lpstr>
      <vt:lpstr>Configuring Roles</vt:lpstr>
      <vt:lpstr>Configuring Roles</vt:lpstr>
      <vt:lpstr>Inventory Management in Odoo</vt:lpstr>
      <vt:lpstr>Inventory Management in SAP (MM Module)</vt:lpstr>
      <vt:lpstr>Key ERP Inventory Terms</vt:lpstr>
      <vt:lpstr>Student Lab Exercises</vt:lpstr>
      <vt:lpstr>THANK YOU!</vt:lpstr>
      <vt:lpstr>ERP in Supply Chain &amp; Manufacturing</vt:lpstr>
      <vt:lpstr>Introduction</vt:lpstr>
      <vt:lpstr>ERP in Supply Chain Management (SCM)</vt:lpstr>
      <vt:lpstr>ERP in Manufacturing</vt:lpstr>
      <vt:lpstr>Real-Time Inventory Management Challenges</vt:lpstr>
      <vt:lpstr>ERP Use Cases in Inventory Management</vt:lpstr>
      <vt:lpstr>Real-Time Production Management Challenges</vt:lpstr>
      <vt:lpstr>ERP Use Cases in Production Management</vt:lpstr>
      <vt:lpstr>Benefits of ERP in SCM &amp; Manufacturing</vt:lpstr>
      <vt:lpstr>Real-World Example: Furniture Manufacturer</vt:lpstr>
      <vt:lpstr>Common ERP Modules in SCM &amp; Manufacturing</vt:lpstr>
      <vt:lpstr>Conclusion</vt:lpstr>
      <vt:lpstr>THANK YOU!</vt:lpstr>
      <vt:lpstr>ERP and Business Intelligence</vt:lpstr>
      <vt:lpstr>Introduction</vt:lpstr>
      <vt:lpstr>Introduction</vt:lpstr>
      <vt:lpstr>Reporting in ERP &amp; BI</vt:lpstr>
      <vt:lpstr>Reporting in ERP &amp; BI</vt:lpstr>
      <vt:lpstr>Reporting in ERP &amp; BI</vt:lpstr>
      <vt:lpstr>Analytics in ERP &amp; BI</vt:lpstr>
      <vt:lpstr>Analytics in ERP &amp; BI</vt:lpstr>
      <vt:lpstr>Dashboards in ERP &amp; BI</vt:lpstr>
      <vt:lpstr>Dashboards in ERP &amp; BI</vt:lpstr>
      <vt:lpstr>Benefits of ERP + BI Integration</vt:lpstr>
      <vt:lpstr>Challenges &amp; Best Practices</vt:lpstr>
      <vt:lpstr>Challenges &amp; Best Practices</vt:lpstr>
      <vt:lpstr>Conclusion</vt:lpstr>
      <vt:lpstr>THANK YOU!</vt:lpstr>
      <vt:lpstr>Popular Cloud ERP Solutions</vt:lpstr>
      <vt:lpstr>SAP S/4HANA Cloud</vt:lpstr>
      <vt:lpstr>SAP S/4HANA Cloud</vt:lpstr>
      <vt:lpstr>Oracle ERP Cloud</vt:lpstr>
      <vt:lpstr>Oracle ERP Cloud</vt:lpstr>
      <vt:lpstr>Microsoft Dynamics 365 Finance &amp; Operations</vt:lpstr>
      <vt:lpstr>NetSuite ERP</vt:lpstr>
      <vt:lpstr>Infor CloudSuite</vt:lpstr>
      <vt:lpstr>Workday</vt:lpstr>
      <vt:lpstr>THANK YOU!</vt:lpstr>
      <vt:lpstr>Migration Strategies: On-Premises to Cloud ERP</vt:lpstr>
      <vt:lpstr>Assessment &amp; Planning</vt:lpstr>
      <vt:lpstr>Data Preparation &amp; Cleansing</vt:lpstr>
      <vt:lpstr>Design &amp; Customization</vt:lpstr>
      <vt:lpstr>Integration Planning</vt:lpstr>
      <vt:lpstr>Migration Execution</vt:lpstr>
      <vt:lpstr>Testing &amp; Validation</vt:lpstr>
      <vt:lpstr>Training &amp; Change Management</vt:lpstr>
      <vt:lpstr>Go-Live &amp; Post-Migration Support</vt:lpstr>
      <vt:lpstr>Migration Phases Summary</vt:lpstr>
      <vt:lpstr>Legal, Ethical, and Security Issues in ERP Systems</vt:lpstr>
      <vt:lpstr>Introduction</vt:lpstr>
      <vt:lpstr>Legal Issues in ERP – Data Protection Laws</vt:lpstr>
      <vt:lpstr>Legal Issues in ERP – Data Protection Laws</vt:lpstr>
      <vt:lpstr>Legal Issues in ERP – Contracts &amp; Compliance</vt:lpstr>
      <vt:lpstr>Ethical Issues – Responsible Data Use</vt:lpstr>
      <vt:lpstr>Ethical Issues – Employee Monitoring &amp; Data Bias</vt:lpstr>
      <vt:lpstr>ERP Security Issues – Common Threats</vt:lpstr>
      <vt:lpstr>ERP Security – CIA Triad Principles</vt:lpstr>
      <vt:lpstr>Data Privacy in ERP</vt:lpstr>
      <vt:lpstr>Access Control – Types</vt:lpstr>
      <vt:lpstr>Access Control – Best Practices</vt:lpstr>
      <vt:lpstr>Auditing &amp; Monitoring</vt:lpstr>
      <vt:lpstr>ERP Security Governance</vt:lpstr>
      <vt:lpstr>Cloud ERP Security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inft 456: Introduction to ERP (Enterprise Resource Planning)</dc:title>
  <dc:creator>Maclean Oduro</dc:creator>
  <cp:lastModifiedBy>ThinkPad</cp:lastModifiedBy>
  <cp:revision>442</cp:revision>
  <dcterms:created xsi:type="dcterms:W3CDTF">2025-05-31T18:39:12Z</dcterms:created>
  <dcterms:modified xsi:type="dcterms:W3CDTF">2026-07-13T12:46:23Z</dcterms:modified>
</cp:coreProperties>
</file>