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74" d="100"/>
          <a:sy n="74"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724051-B233-4170-9203-984188251A1B}"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3151035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724051-B233-4170-9203-984188251A1B}"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1849361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724051-B233-4170-9203-984188251A1B}"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4686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724051-B233-4170-9203-984188251A1B}"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3043819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724051-B233-4170-9203-984188251A1B}"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3614128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724051-B233-4170-9203-984188251A1B}" type="datetimeFigureOut">
              <a:rPr lang="en-US" smtClean="0"/>
              <a:t>3/11/2025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688050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724051-B233-4170-9203-984188251A1B}" type="datetimeFigureOut">
              <a:rPr lang="en-US" smtClean="0"/>
              <a:t>3/11/2025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1259027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724051-B233-4170-9203-984188251A1B}"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3137211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724051-B233-4170-9203-984188251A1B}"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23361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724051-B233-4170-9203-984188251A1B}"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2137075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724051-B233-4170-9203-984188251A1B}"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BCB908-8D39-4C74-BBA5-A4853BB35C24}" type="slidenum">
              <a:rPr lang="en-US" smtClean="0"/>
              <a:t>‹#›</a:t>
            </a:fld>
            <a:endParaRPr lang="en-US"/>
          </a:p>
        </p:txBody>
      </p:sp>
    </p:spTree>
    <p:extLst>
      <p:ext uri="{BB962C8B-B14F-4D97-AF65-F5344CB8AC3E}">
        <p14:creationId xmlns:p14="http://schemas.microsoft.com/office/powerpoint/2010/main" val="58831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724051-B233-4170-9203-984188251A1B}" type="datetimeFigureOut">
              <a:rPr lang="en-US" smtClean="0"/>
              <a:t>3/11/2025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BCB908-8D39-4C74-BBA5-A4853BB35C24}" type="slidenum">
              <a:rPr lang="en-US" smtClean="0"/>
              <a:t>‹#›</a:t>
            </a:fld>
            <a:endParaRPr lang="en-US"/>
          </a:p>
        </p:txBody>
      </p:sp>
    </p:spTree>
    <p:extLst>
      <p:ext uri="{BB962C8B-B14F-4D97-AF65-F5344CB8AC3E}">
        <p14:creationId xmlns:p14="http://schemas.microsoft.com/office/powerpoint/2010/main" val="2125691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Cloud Computing Planning</a:t>
            </a:r>
            <a:br>
              <a:rPr lang="en-US" b="1" dirty="0" smtClean="0"/>
            </a:br>
            <a:endParaRPr lang="en-US" dirty="0"/>
          </a:p>
        </p:txBody>
      </p:sp>
      <p:sp>
        <p:nvSpPr>
          <p:cNvPr id="3" name="Subtitle 2"/>
          <p:cNvSpPr>
            <a:spLocks noGrp="1"/>
          </p:cNvSpPr>
          <p:nvPr>
            <p:ph type="subTitle" idx="1"/>
          </p:nvPr>
        </p:nvSpPr>
        <p:spPr/>
        <p:txBody>
          <a:bodyPr/>
          <a:lstStyle/>
          <a:p>
            <a:r>
              <a:rPr lang="en-US" dirty="0" smtClean="0"/>
              <a:t>Dr. John </a:t>
            </a:r>
            <a:r>
              <a:rPr lang="en-US" dirty="0" err="1" smtClean="0"/>
              <a:t>Kwao</a:t>
            </a:r>
            <a:r>
              <a:rPr lang="en-US" dirty="0" smtClean="0"/>
              <a:t> Dawson</a:t>
            </a:r>
            <a:endParaRPr lang="en-US" dirty="0"/>
          </a:p>
        </p:txBody>
      </p:sp>
    </p:spTree>
    <p:extLst>
      <p:ext uri="{BB962C8B-B14F-4D97-AF65-F5344CB8AC3E}">
        <p14:creationId xmlns:p14="http://schemas.microsoft.com/office/powerpoint/2010/main" val="21726447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7576"/>
            <a:ext cx="10515600" cy="6600423"/>
          </a:xfrm>
        </p:spPr>
        <p:txBody>
          <a:bodyPr>
            <a:normAutofit fontScale="92500" lnSpcReduction="20000"/>
          </a:bodyPr>
          <a:lstStyle/>
          <a:p>
            <a:pPr marL="0" indent="0" algn="just">
              <a:lnSpc>
                <a:spcPct val="150000"/>
              </a:lnSpc>
              <a:buNone/>
            </a:pPr>
            <a:r>
              <a:rPr lang="en-US" dirty="0" smtClean="0"/>
              <a:t>Before deploying applications to cloud, it is necessary to consider your business requirements. Following are the issues one must consider:</a:t>
            </a:r>
          </a:p>
          <a:p>
            <a:pPr algn="just">
              <a:lnSpc>
                <a:spcPct val="150000"/>
              </a:lnSpc>
            </a:pPr>
            <a:r>
              <a:rPr lang="en-US" dirty="0" smtClean="0"/>
              <a:t>Data Security and Privacy Requirement</a:t>
            </a:r>
          </a:p>
          <a:p>
            <a:pPr algn="just">
              <a:lnSpc>
                <a:spcPct val="150000"/>
              </a:lnSpc>
            </a:pPr>
            <a:r>
              <a:rPr lang="en-US" dirty="0" smtClean="0"/>
              <a:t>Budget Requirements</a:t>
            </a:r>
          </a:p>
          <a:p>
            <a:pPr algn="just">
              <a:lnSpc>
                <a:spcPct val="150000"/>
              </a:lnSpc>
            </a:pPr>
            <a:r>
              <a:rPr lang="en-US" dirty="0" smtClean="0"/>
              <a:t>Type of cloud - public, private or hybrid</a:t>
            </a:r>
          </a:p>
          <a:p>
            <a:pPr algn="just">
              <a:lnSpc>
                <a:spcPct val="150000"/>
              </a:lnSpc>
            </a:pPr>
            <a:r>
              <a:rPr lang="en-US" dirty="0" smtClean="0"/>
              <a:t>Data backup requirements</a:t>
            </a:r>
          </a:p>
          <a:p>
            <a:pPr algn="just">
              <a:lnSpc>
                <a:spcPct val="150000"/>
              </a:lnSpc>
            </a:pPr>
            <a:r>
              <a:rPr lang="en-US" dirty="0" smtClean="0"/>
              <a:t>Training requirements</a:t>
            </a:r>
          </a:p>
          <a:p>
            <a:pPr algn="just">
              <a:lnSpc>
                <a:spcPct val="150000"/>
              </a:lnSpc>
            </a:pPr>
            <a:r>
              <a:rPr lang="en-US" dirty="0" smtClean="0"/>
              <a:t>Dashboard and reporting requirements</a:t>
            </a:r>
          </a:p>
          <a:p>
            <a:pPr algn="just">
              <a:lnSpc>
                <a:spcPct val="150000"/>
              </a:lnSpc>
            </a:pPr>
            <a:r>
              <a:rPr lang="en-US" dirty="0" smtClean="0"/>
              <a:t>Client access requirements</a:t>
            </a:r>
          </a:p>
          <a:p>
            <a:pPr algn="just">
              <a:lnSpc>
                <a:spcPct val="150000"/>
              </a:lnSpc>
            </a:pPr>
            <a:r>
              <a:rPr lang="en-US" dirty="0" smtClean="0"/>
              <a:t>Data export requirements</a:t>
            </a:r>
          </a:p>
          <a:p>
            <a:endParaRPr lang="en-US" dirty="0"/>
          </a:p>
        </p:txBody>
      </p:sp>
    </p:spTree>
    <p:extLst>
      <p:ext uri="{BB962C8B-B14F-4D97-AF65-F5344CB8AC3E}">
        <p14:creationId xmlns:p14="http://schemas.microsoft.com/office/powerpoint/2010/main" val="38910440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7577"/>
            <a:ext cx="10515600" cy="5919386"/>
          </a:xfrm>
        </p:spPr>
        <p:txBody>
          <a:bodyPr/>
          <a:lstStyle/>
          <a:p>
            <a:pPr marL="0" indent="0" algn="just">
              <a:lnSpc>
                <a:spcPct val="100000"/>
              </a:lnSpc>
              <a:buNone/>
            </a:pPr>
            <a:r>
              <a:rPr lang="en-US" sz="2600" dirty="0" smtClean="0"/>
              <a:t>To meet all of these requirements, it is necessary to have well-compiled planning. The various planning phases that must be </a:t>
            </a:r>
            <a:r>
              <a:rPr lang="en-US" sz="2600" dirty="0" err="1" smtClean="0"/>
              <a:t>practized</a:t>
            </a:r>
            <a:r>
              <a:rPr lang="en-US" sz="2600" dirty="0" smtClean="0"/>
              <a:t> by an enterprise before migrating the entire business to cloud. Each of these planning phases are described in the following diagram:</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8628" y="2335817"/>
            <a:ext cx="5334744" cy="4143953"/>
          </a:xfrm>
          <a:prstGeom prst="rect">
            <a:avLst/>
          </a:prstGeom>
        </p:spPr>
      </p:pic>
    </p:spTree>
    <p:extLst>
      <p:ext uri="{BB962C8B-B14F-4D97-AF65-F5344CB8AC3E}">
        <p14:creationId xmlns:p14="http://schemas.microsoft.com/office/powerpoint/2010/main" val="22026667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7577"/>
            <a:ext cx="10515600" cy="5919386"/>
          </a:xfrm>
        </p:spPr>
        <p:txBody>
          <a:bodyPr/>
          <a:lstStyle/>
          <a:p>
            <a:pPr marL="0" indent="0">
              <a:buNone/>
            </a:pPr>
            <a:r>
              <a:rPr lang="en-US" b="1" dirty="0" smtClean="0"/>
              <a:t>Strategy Phase</a:t>
            </a:r>
          </a:p>
          <a:p>
            <a:pPr marL="0" indent="0">
              <a:lnSpc>
                <a:spcPct val="150000"/>
              </a:lnSpc>
              <a:buNone/>
            </a:pPr>
            <a:r>
              <a:rPr lang="en-US" sz="2600" dirty="0" smtClean="0"/>
              <a:t>In this phase, we analyze the strategy problems that customer might face. There are two steps to perform this analysis:</a:t>
            </a:r>
          </a:p>
          <a:p>
            <a:pPr>
              <a:lnSpc>
                <a:spcPct val="150000"/>
              </a:lnSpc>
            </a:pPr>
            <a:r>
              <a:rPr lang="en-US" sz="2600" dirty="0" smtClean="0"/>
              <a:t>Cloud Computing Value Proposition</a:t>
            </a:r>
          </a:p>
          <a:p>
            <a:pPr>
              <a:lnSpc>
                <a:spcPct val="150000"/>
              </a:lnSpc>
            </a:pPr>
            <a:r>
              <a:rPr lang="en-US" sz="2600" dirty="0" smtClean="0"/>
              <a:t>Cloud Computing Strategy Planning</a:t>
            </a:r>
          </a:p>
          <a:p>
            <a:pPr marL="0" indent="0">
              <a:buNone/>
            </a:pPr>
            <a:endParaRPr lang="en-US" b="1" dirty="0" smtClean="0"/>
          </a:p>
          <a:p>
            <a:endParaRPr lang="en-US" dirty="0"/>
          </a:p>
        </p:txBody>
      </p:sp>
    </p:spTree>
    <p:extLst>
      <p:ext uri="{BB962C8B-B14F-4D97-AF65-F5344CB8AC3E}">
        <p14:creationId xmlns:p14="http://schemas.microsoft.com/office/powerpoint/2010/main" val="1470260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0456"/>
            <a:ext cx="10515600" cy="6478074"/>
          </a:xfrm>
        </p:spPr>
        <p:txBody>
          <a:bodyPr>
            <a:normAutofit/>
          </a:bodyPr>
          <a:lstStyle/>
          <a:p>
            <a:pPr marL="0" indent="0">
              <a:buNone/>
            </a:pPr>
            <a:r>
              <a:rPr lang="en-US" b="1" dirty="0" smtClean="0"/>
              <a:t>Cloud Computing Value Proposition</a:t>
            </a:r>
          </a:p>
          <a:p>
            <a:pPr marL="0" indent="0">
              <a:lnSpc>
                <a:spcPct val="150000"/>
              </a:lnSpc>
              <a:buNone/>
            </a:pPr>
            <a:r>
              <a:rPr lang="en-US" sz="2600" dirty="0" smtClean="0"/>
              <a:t>In this, we analyze the factors influencing the customers when applying cloud computing mode and target the key problems they wish to solve. These key factors are:</a:t>
            </a:r>
          </a:p>
          <a:p>
            <a:pPr>
              <a:lnSpc>
                <a:spcPct val="150000"/>
              </a:lnSpc>
            </a:pPr>
            <a:r>
              <a:rPr lang="en-US" sz="2600" dirty="0" smtClean="0"/>
              <a:t>IT management simplification</a:t>
            </a:r>
          </a:p>
          <a:p>
            <a:pPr>
              <a:lnSpc>
                <a:spcPct val="150000"/>
              </a:lnSpc>
            </a:pPr>
            <a:r>
              <a:rPr lang="en-US" sz="2600" dirty="0" smtClean="0"/>
              <a:t>operation and maintenance cost reduction</a:t>
            </a:r>
          </a:p>
          <a:p>
            <a:pPr>
              <a:lnSpc>
                <a:spcPct val="150000"/>
              </a:lnSpc>
            </a:pPr>
            <a:r>
              <a:rPr lang="en-US" sz="2600" dirty="0" smtClean="0"/>
              <a:t>business mode innovation</a:t>
            </a:r>
          </a:p>
          <a:p>
            <a:pPr>
              <a:lnSpc>
                <a:spcPct val="150000"/>
              </a:lnSpc>
            </a:pPr>
            <a:r>
              <a:rPr lang="en-US" sz="2600" dirty="0" smtClean="0"/>
              <a:t>low cost outsourcing hosting</a:t>
            </a:r>
          </a:p>
          <a:p>
            <a:pPr>
              <a:lnSpc>
                <a:spcPct val="150000"/>
              </a:lnSpc>
            </a:pPr>
            <a:r>
              <a:rPr lang="en-US" sz="2600" dirty="0" smtClean="0"/>
              <a:t>high service quality outsourcing hosting.</a:t>
            </a:r>
          </a:p>
          <a:p>
            <a:pPr marL="0" indent="0">
              <a:buNone/>
            </a:pPr>
            <a:endParaRPr lang="en-US" dirty="0" smtClean="0"/>
          </a:p>
          <a:p>
            <a:endParaRPr lang="en-US" dirty="0"/>
          </a:p>
        </p:txBody>
      </p:sp>
    </p:spTree>
    <p:extLst>
      <p:ext uri="{BB962C8B-B14F-4D97-AF65-F5344CB8AC3E}">
        <p14:creationId xmlns:p14="http://schemas.microsoft.com/office/powerpoint/2010/main" val="42947346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0456"/>
            <a:ext cx="10515600" cy="5906507"/>
          </a:xfrm>
        </p:spPr>
        <p:txBody>
          <a:bodyPr/>
          <a:lstStyle/>
          <a:p>
            <a:pPr marL="0" indent="0">
              <a:buNone/>
            </a:pPr>
            <a:r>
              <a:rPr lang="en-US" b="1" dirty="0" smtClean="0"/>
              <a:t>Cloud Computing Strategy Planning</a:t>
            </a:r>
          </a:p>
          <a:p>
            <a:pPr algn="just">
              <a:lnSpc>
                <a:spcPct val="150000"/>
              </a:lnSpc>
            </a:pPr>
            <a:r>
              <a:rPr lang="en-US" sz="2600" dirty="0" smtClean="0"/>
              <a:t>The strategy establishment is based on the analysis result of the above step. </a:t>
            </a:r>
          </a:p>
          <a:p>
            <a:pPr algn="just">
              <a:lnSpc>
                <a:spcPct val="150000"/>
              </a:lnSpc>
            </a:pPr>
            <a:r>
              <a:rPr lang="en-US" sz="2600" dirty="0" smtClean="0"/>
              <a:t>In this step, a strategy document is prepared according to the conditions a customer might face when applying cloud computing mode.</a:t>
            </a:r>
            <a:endParaRPr lang="en-US" sz="2600" b="1" dirty="0" smtClean="0"/>
          </a:p>
          <a:p>
            <a:endParaRPr lang="en-US" dirty="0"/>
          </a:p>
        </p:txBody>
      </p:sp>
    </p:spTree>
    <p:extLst>
      <p:ext uri="{BB962C8B-B14F-4D97-AF65-F5344CB8AC3E}">
        <p14:creationId xmlns:p14="http://schemas.microsoft.com/office/powerpoint/2010/main" val="32595937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7577"/>
            <a:ext cx="10515600" cy="6426558"/>
          </a:xfrm>
        </p:spPr>
        <p:txBody>
          <a:bodyPr>
            <a:normAutofit/>
          </a:bodyPr>
          <a:lstStyle/>
          <a:p>
            <a:pPr marL="0" indent="0">
              <a:buNone/>
            </a:pPr>
            <a:r>
              <a:rPr lang="en-US" b="1" dirty="0" smtClean="0"/>
              <a:t>Planning Phase</a:t>
            </a:r>
          </a:p>
          <a:p>
            <a:pPr marL="0" indent="0" algn="just">
              <a:lnSpc>
                <a:spcPct val="150000"/>
              </a:lnSpc>
              <a:buNone/>
            </a:pPr>
            <a:r>
              <a:rPr lang="en-US" dirty="0" smtClean="0"/>
              <a:t>This step performs analysis of problems and risks in the cloud application to ensure the customers that the cloud computing is successfully meeting their business goals.  This phase involves the following planning steps:</a:t>
            </a:r>
          </a:p>
          <a:p>
            <a:pPr>
              <a:lnSpc>
                <a:spcPct val="150000"/>
              </a:lnSpc>
            </a:pPr>
            <a:r>
              <a:rPr lang="en-US" sz="2600" dirty="0" smtClean="0"/>
              <a:t>Business Architecture Development</a:t>
            </a:r>
          </a:p>
          <a:p>
            <a:pPr>
              <a:lnSpc>
                <a:spcPct val="150000"/>
              </a:lnSpc>
            </a:pPr>
            <a:r>
              <a:rPr lang="en-US" sz="2600" dirty="0" smtClean="0"/>
              <a:t>IT Architecture development</a:t>
            </a:r>
          </a:p>
          <a:p>
            <a:pPr>
              <a:lnSpc>
                <a:spcPct val="150000"/>
              </a:lnSpc>
            </a:pPr>
            <a:r>
              <a:rPr lang="en-US" sz="2600" dirty="0" smtClean="0"/>
              <a:t>Requirements on Quality of Service Development</a:t>
            </a:r>
          </a:p>
          <a:p>
            <a:pPr>
              <a:lnSpc>
                <a:spcPct val="150000"/>
              </a:lnSpc>
            </a:pPr>
            <a:r>
              <a:rPr lang="en-US" sz="2600" dirty="0" smtClean="0"/>
              <a:t>Transformation Plan development</a:t>
            </a:r>
          </a:p>
          <a:p>
            <a:endParaRPr lang="en-US" b="1" dirty="0" smtClean="0"/>
          </a:p>
          <a:p>
            <a:endParaRPr lang="en-US" dirty="0"/>
          </a:p>
        </p:txBody>
      </p:sp>
    </p:spTree>
    <p:extLst>
      <p:ext uri="{BB962C8B-B14F-4D97-AF65-F5344CB8AC3E}">
        <p14:creationId xmlns:p14="http://schemas.microsoft.com/office/powerpoint/2010/main" val="2438420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6062"/>
            <a:ext cx="10515600" cy="5970901"/>
          </a:xfrm>
        </p:spPr>
        <p:txBody>
          <a:bodyPr>
            <a:normAutofit/>
          </a:bodyPr>
          <a:lstStyle/>
          <a:p>
            <a:pPr marL="0" indent="0">
              <a:buNone/>
            </a:pPr>
            <a:r>
              <a:rPr lang="en-US" b="1" dirty="0" smtClean="0"/>
              <a:t>Business Architecture Development</a:t>
            </a:r>
          </a:p>
          <a:p>
            <a:pPr marL="0" indent="0" algn="just">
              <a:buNone/>
            </a:pPr>
            <a:r>
              <a:rPr lang="en-US" sz="2600" dirty="0" smtClean="0"/>
              <a:t>In this step, we recognize the risks that might be caused by cloud computing application from a business perspective.</a:t>
            </a:r>
          </a:p>
          <a:p>
            <a:pPr marL="0" indent="0">
              <a:buNone/>
            </a:pPr>
            <a:endParaRPr lang="en-US" dirty="0" smtClean="0"/>
          </a:p>
          <a:p>
            <a:pPr marL="0" indent="0">
              <a:buNone/>
            </a:pPr>
            <a:r>
              <a:rPr lang="en-US" b="1" dirty="0" smtClean="0"/>
              <a:t>IT Architecture Development</a:t>
            </a:r>
          </a:p>
          <a:p>
            <a:pPr marL="0" indent="0" algn="just">
              <a:buNone/>
            </a:pPr>
            <a:r>
              <a:rPr lang="en-US" sz="2600" dirty="0" smtClean="0"/>
              <a:t>In this step, we identify the applications that support the business processes and the technologies required to support enterprise applications and data systems.</a:t>
            </a:r>
          </a:p>
          <a:p>
            <a:pPr marL="0" indent="0">
              <a:buNone/>
            </a:pPr>
            <a:endParaRPr lang="en-US" dirty="0"/>
          </a:p>
          <a:p>
            <a:pPr marL="0" indent="0">
              <a:buNone/>
            </a:pPr>
            <a:r>
              <a:rPr lang="en-US" b="1" dirty="0" smtClean="0"/>
              <a:t>Requirements on Quality of Service Development</a:t>
            </a:r>
          </a:p>
          <a:p>
            <a:pPr marL="0" indent="0" algn="just">
              <a:buNone/>
            </a:pPr>
            <a:r>
              <a:rPr lang="en-US" sz="2600" dirty="0" smtClean="0"/>
              <a:t>Quality of service refers to the non-functional requirements such as reliability, security, disaster recovery, etc. The success of applying cloud computing mode depends on these non-functional factors.</a:t>
            </a:r>
          </a:p>
          <a:p>
            <a:pPr marL="0" indent="0">
              <a:buNone/>
            </a:pP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12685657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6062"/>
            <a:ext cx="10515600" cy="5970901"/>
          </a:xfrm>
        </p:spPr>
        <p:txBody>
          <a:bodyPr/>
          <a:lstStyle/>
          <a:p>
            <a:pPr marL="0" indent="0">
              <a:buNone/>
            </a:pPr>
            <a:r>
              <a:rPr lang="en-US" b="1" dirty="0" smtClean="0"/>
              <a:t>Transformation Plan Development</a:t>
            </a:r>
          </a:p>
          <a:p>
            <a:pPr marL="0" indent="0">
              <a:lnSpc>
                <a:spcPct val="150000"/>
              </a:lnSpc>
              <a:buNone/>
            </a:pPr>
            <a:r>
              <a:rPr lang="en-US" sz="2600" dirty="0" smtClean="0"/>
              <a:t>In this step, we formulate all kinds of plans that are required to transform current business to cloud computing modes.</a:t>
            </a:r>
          </a:p>
          <a:p>
            <a:endParaRPr lang="en-US" dirty="0"/>
          </a:p>
        </p:txBody>
      </p:sp>
    </p:spTree>
    <p:extLst>
      <p:ext uri="{BB962C8B-B14F-4D97-AF65-F5344CB8AC3E}">
        <p14:creationId xmlns:p14="http://schemas.microsoft.com/office/powerpoint/2010/main" val="18557283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0456"/>
            <a:ext cx="10515600" cy="6375043"/>
          </a:xfrm>
        </p:spPr>
        <p:txBody>
          <a:bodyPr/>
          <a:lstStyle/>
          <a:p>
            <a:pPr marL="0" indent="0">
              <a:buNone/>
            </a:pPr>
            <a:r>
              <a:rPr lang="en-US" b="1" dirty="0" smtClean="0"/>
              <a:t>Deployment Phase</a:t>
            </a:r>
          </a:p>
          <a:p>
            <a:pPr marL="0" indent="0">
              <a:lnSpc>
                <a:spcPct val="150000"/>
              </a:lnSpc>
              <a:buNone/>
            </a:pPr>
            <a:r>
              <a:rPr lang="en-US" sz="2600" dirty="0" smtClean="0"/>
              <a:t>This phase focuses on both of the </a:t>
            </a:r>
            <a:r>
              <a:rPr lang="en-US" sz="2600" dirty="0" smtClean="0"/>
              <a:t>below</a:t>
            </a:r>
            <a:r>
              <a:rPr lang="en-US" sz="2600" dirty="0" smtClean="0"/>
              <a:t> </a:t>
            </a:r>
            <a:r>
              <a:rPr lang="en-US" sz="2600" dirty="0" smtClean="0"/>
              <a:t>two phases. It involves the following two steps:</a:t>
            </a:r>
          </a:p>
          <a:p>
            <a:pPr>
              <a:lnSpc>
                <a:spcPct val="150000"/>
              </a:lnSpc>
            </a:pPr>
            <a:r>
              <a:rPr lang="en-US" sz="2600" dirty="0" smtClean="0"/>
              <a:t>Selecting Cloud Computing Provider</a:t>
            </a:r>
          </a:p>
          <a:p>
            <a:pPr>
              <a:lnSpc>
                <a:spcPct val="150000"/>
              </a:lnSpc>
            </a:pPr>
            <a:r>
              <a:rPr lang="en-US" sz="2600" dirty="0" smtClean="0"/>
              <a:t>Maintenance and Technical Service</a:t>
            </a:r>
          </a:p>
          <a:p>
            <a:pPr marL="0" indent="0">
              <a:buNone/>
            </a:pPr>
            <a:endParaRPr lang="en-US" dirty="0" smtClean="0"/>
          </a:p>
          <a:p>
            <a:pPr marL="0" indent="0">
              <a:buNone/>
            </a:pPr>
            <a:r>
              <a:rPr lang="en-US" b="1" dirty="0" smtClean="0"/>
              <a:t>Selecting Cloud Computing Provider</a:t>
            </a:r>
          </a:p>
          <a:p>
            <a:pPr marL="0" indent="0" algn="just">
              <a:lnSpc>
                <a:spcPct val="150000"/>
              </a:lnSpc>
              <a:buNone/>
            </a:pPr>
            <a:r>
              <a:rPr lang="en-US" sz="2600" dirty="0" smtClean="0"/>
              <a:t>This step includes selecting a cloud provider on basis of Service Level Agreement (SLA), which defines the level of service the provider will meet.</a:t>
            </a:r>
          </a:p>
          <a:p>
            <a:pPr marL="0" indent="0">
              <a:buNone/>
            </a:pPr>
            <a:endParaRPr lang="en-US" dirty="0" smtClean="0"/>
          </a:p>
          <a:p>
            <a:endParaRPr lang="en-US" dirty="0"/>
          </a:p>
        </p:txBody>
      </p:sp>
    </p:spTree>
    <p:extLst>
      <p:ext uri="{BB962C8B-B14F-4D97-AF65-F5344CB8AC3E}">
        <p14:creationId xmlns:p14="http://schemas.microsoft.com/office/powerpoint/2010/main" val="8633500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3335"/>
            <a:ext cx="10515600" cy="5893628"/>
          </a:xfrm>
        </p:spPr>
        <p:txBody>
          <a:bodyPr/>
          <a:lstStyle/>
          <a:p>
            <a:pPr marL="0" indent="0">
              <a:buNone/>
            </a:pPr>
            <a:r>
              <a:rPr lang="en-US" b="1" dirty="0" smtClean="0"/>
              <a:t>Maintenance and Technical Service</a:t>
            </a:r>
          </a:p>
          <a:p>
            <a:pPr marL="0" indent="0">
              <a:lnSpc>
                <a:spcPct val="150000"/>
              </a:lnSpc>
              <a:buNone/>
            </a:pPr>
            <a:r>
              <a:rPr lang="en-US" sz="2600" dirty="0" smtClean="0"/>
              <a:t>Maintenance and Technical services are provided by the cloud provider. They need to ensure the quality of services.</a:t>
            </a:r>
          </a:p>
          <a:p>
            <a:endParaRPr lang="en-US" dirty="0"/>
          </a:p>
        </p:txBody>
      </p:sp>
    </p:spTree>
    <p:extLst>
      <p:ext uri="{BB962C8B-B14F-4D97-AF65-F5344CB8AC3E}">
        <p14:creationId xmlns:p14="http://schemas.microsoft.com/office/powerpoint/2010/main" val="12061954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487</Words>
  <Application>Microsoft Office PowerPoint</Application>
  <PresentationFormat>Widescreen</PresentationFormat>
  <Paragraphs>52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Cloud Computing Planning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 Planning</dc:title>
  <dc:creator>ThinkPad</dc:creator>
  <cp:lastModifiedBy>ThinkPad</cp:lastModifiedBy>
  <cp:revision>5</cp:revision>
  <dcterms:created xsi:type="dcterms:W3CDTF">2025-01-17T17:33:50Z</dcterms:created>
  <dcterms:modified xsi:type="dcterms:W3CDTF">2025-03-11T08:49:35Z</dcterms:modified>
</cp:coreProperties>
</file>