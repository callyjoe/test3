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83" r:id="rId3"/>
    <p:sldId id="257" r:id="rId4"/>
    <p:sldId id="284" r:id="rId5"/>
    <p:sldId id="259" r:id="rId6"/>
    <p:sldId id="258" r:id="rId7"/>
    <p:sldId id="262" r:id="rId8"/>
    <p:sldId id="281" r:id="rId9"/>
    <p:sldId id="280" r:id="rId10"/>
    <p:sldId id="263" r:id="rId11"/>
    <p:sldId id="260" r:id="rId12"/>
    <p:sldId id="264" r:id="rId13"/>
    <p:sldId id="265" r:id="rId14"/>
    <p:sldId id="267" r:id="rId15"/>
    <p:sldId id="261" r:id="rId16"/>
    <p:sldId id="268" r:id="rId17"/>
    <p:sldId id="269" r:id="rId18"/>
    <p:sldId id="270" r:id="rId19"/>
    <p:sldId id="271" r:id="rId20"/>
    <p:sldId id="272" r:id="rId21"/>
    <p:sldId id="282" r:id="rId22"/>
    <p:sldId id="273" r:id="rId23"/>
    <p:sldId id="274" r:id="rId24"/>
    <p:sldId id="276" r:id="rId25"/>
    <p:sldId id="277" r:id="rId26"/>
    <p:sldId id="278" r:id="rId27"/>
    <p:sldId id="279"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57" autoAdjust="0"/>
  </p:normalViewPr>
  <p:slideViewPr>
    <p:cSldViewPr snapToGrid="0">
      <p:cViewPr varScale="1">
        <p:scale>
          <a:sx n="62" d="100"/>
          <a:sy n="62" d="100"/>
        </p:scale>
        <p:origin x="9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8BB92-D805-44BB-9FA9-A3ABF55352C8}" type="datetimeFigureOut">
              <a:rPr lang="en-GH" smtClean="0"/>
              <a:t>26/03/2025</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113228-D489-4D99-9D3C-D36DDA24D33C}" type="slidenum">
              <a:rPr lang="en-GH" smtClean="0"/>
              <a:t>‹#›</a:t>
            </a:fld>
            <a:endParaRPr lang="en-GH"/>
          </a:p>
        </p:txBody>
      </p:sp>
    </p:spTree>
    <p:extLst>
      <p:ext uri="{BB962C8B-B14F-4D97-AF65-F5344CB8AC3E}">
        <p14:creationId xmlns:p14="http://schemas.microsoft.com/office/powerpoint/2010/main" val="3024962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Pigeonhole Principle</a:t>
            </a:r>
            <a:br>
              <a:rPr lang="en-US"/>
            </a:br>
            <a:r>
              <a:rPr lang="en-US"/>
              <a:t>If the number of possible inputs is greater than the number of possible outputs, then at least two inputs must map to the same output. </a:t>
            </a:r>
            <a:endParaRPr lang="en-GH" dirty="0"/>
          </a:p>
        </p:txBody>
      </p:sp>
      <p:sp>
        <p:nvSpPr>
          <p:cNvPr id="4" name="Slide Number Placeholder 3"/>
          <p:cNvSpPr>
            <a:spLocks noGrp="1"/>
          </p:cNvSpPr>
          <p:nvPr>
            <p:ph type="sldNum" sz="quarter" idx="5"/>
          </p:nvPr>
        </p:nvSpPr>
        <p:spPr/>
        <p:txBody>
          <a:bodyPr/>
          <a:lstStyle/>
          <a:p>
            <a:fld id="{23113228-D489-4D99-9D3C-D36DDA24D33C}" type="slidenum">
              <a:rPr lang="en-GH" smtClean="0"/>
              <a:t>21</a:t>
            </a:fld>
            <a:endParaRPr lang="en-GH"/>
          </a:p>
        </p:txBody>
      </p:sp>
    </p:spTree>
    <p:extLst>
      <p:ext uri="{BB962C8B-B14F-4D97-AF65-F5344CB8AC3E}">
        <p14:creationId xmlns:p14="http://schemas.microsoft.com/office/powerpoint/2010/main" val="1792138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0255-9B5F-0409-40E5-DF5E234D38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F47E54-ED76-5034-0B5F-38B14C4A5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113ADF-5A0E-1823-51E9-92BC0342F1D8}"/>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5" name="Footer Placeholder 4">
            <a:extLst>
              <a:ext uri="{FF2B5EF4-FFF2-40B4-BE49-F238E27FC236}">
                <a16:creationId xmlns:a16="http://schemas.microsoft.com/office/drawing/2014/main" id="{2E8D124D-0F89-C6F0-31EC-902DA5FD7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B305B-8E06-64DA-CCDB-6EFA4CBFBD39}"/>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208025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CA63-7DE7-FF4F-CB4A-63D2B300E3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724C7E-7EA7-129A-6DE4-922BB7AC3C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E96428-58CA-C419-1D41-7004F3035738}"/>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5" name="Footer Placeholder 4">
            <a:extLst>
              <a:ext uri="{FF2B5EF4-FFF2-40B4-BE49-F238E27FC236}">
                <a16:creationId xmlns:a16="http://schemas.microsoft.com/office/drawing/2014/main" id="{8399F70A-A083-1A11-79FF-E714F97E4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D9033-DC68-7B2B-88C1-0D2411C59EA3}"/>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3066797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1B38-A790-1062-999F-812DAAF8BE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B0C9B7-2487-7787-7AB9-E19FAE7E31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60F451-CCCE-B18C-1731-61B27B7DA861}"/>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5" name="Footer Placeholder 4">
            <a:extLst>
              <a:ext uri="{FF2B5EF4-FFF2-40B4-BE49-F238E27FC236}">
                <a16:creationId xmlns:a16="http://schemas.microsoft.com/office/drawing/2014/main" id="{A4916948-5FC9-E0C3-C3D8-F7EC80D95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B2DAFC-593F-01E9-2A56-8D83877E3FC5}"/>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3293173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3490-13CA-104C-1B7D-482521ED8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ABC228-888D-2F2F-37F8-068AA68B26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2E7194-BB4D-DED2-5670-2C017A4E01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D2E1DA-0C5B-4764-C17E-A405CF7CAFF3}"/>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6" name="Footer Placeholder 5">
            <a:extLst>
              <a:ext uri="{FF2B5EF4-FFF2-40B4-BE49-F238E27FC236}">
                <a16:creationId xmlns:a16="http://schemas.microsoft.com/office/drawing/2014/main" id="{E9CFC316-E263-59B4-84ED-34BD53891B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06EA23-2F24-302D-0481-DF2D535C3D96}"/>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3075051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F4F9-E7F7-1047-BBD8-BEA80365EC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BE4239-AFAC-7283-71DE-78503C112C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824846-7B36-C1E6-14ED-628ADE5DD2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40E878-5885-ED1B-ACC4-726E9E905E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465F00-AC56-E827-B9F7-9417431DB7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12F0A0-0C89-D140-5925-2AFE2069ABDC}"/>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8" name="Footer Placeholder 7">
            <a:extLst>
              <a:ext uri="{FF2B5EF4-FFF2-40B4-BE49-F238E27FC236}">
                <a16:creationId xmlns:a16="http://schemas.microsoft.com/office/drawing/2014/main" id="{BEA2F425-EC2C-8363-6C4D-EA96BA92FE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26BE58-4ACB-2D89-7D2D-88F7F170460D}"/>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3890734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E4BB5-8A7E-4F0F-B6C6-136ADA0548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CF890B-746D-74AD-2985-1317D3B3BFA9}"/>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4" name="Footer Placeholder 3">
            <a:extLst>
              <a:ext uri="{FF2B5EF4-FFF2-40B4-BE49-F238E27FC236}">
                <a16:creationId xmlns:a16="http://schemas.microsoft.com/office/drawing/2014/main" id="{CFC1EE8E-F102-1779-7A4D-45349BB123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114694-3F62-8AFB-72CC-6E9911136ECB}"/>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147368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9E2FE0-5621-26B8-E580-33638073AC5B}"/>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3" name="Footer Placeholder 2">
            <a:extLst>
              <a:ext uri="{FF2B5EF4-FFF2-40B4-BE49-F238E27FC236}">
                <a16:creationId xmlns:a16="http://schemas.microsoft.com/office/drawing/2014/main" id="{B0B78AD9-DC6B-1FF7-20BA-DD8BFA7C5D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61C380-2F71-DBD8-FF61-DD19FCCBA387}"/>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4187102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CD2D3-2F55-C103-077C-1E62F8B93A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1C8E71-E751-A9C1-44F9-C194B7E3E6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C06134-A317-4F27-DD46-FB369955B9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1876F-7C40-4FAD-13D8-8A7702A928F1}"/>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6" name="Footer Placeholder 5">
            <a:extLst>
              <a:ext uri="{FF2B5EF4-FFF2-40B4-BE49-F238E27FC236}">
                <a16:creationId xmlns:a16="http://schemas.microsoft.com/office/drawing/2014/main" id="{CD6C3240-9625-32EA-92BA-EE79E3E768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31517B-017A-2942-67C1-EE7D87677E51}"/>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311048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69348-62F4-9FA6-AC9F-2EA715A591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B1FE24-F77A-D510-3F8E-66B96E8039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8E21AC-0FE7-6AAF-E5E1-E5400FF508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3DBAC9-2CAC-2756-5102-4865E8F60AF5}"/>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6" name="Footer Placeholder 5">
            <a:extLst>
              <a:ext uri="{FF2B5EF4-FFF2-40B4-BE49-F238E27FC236}">
                <a16:creationId xmlns:a16="http://schemas.microsoft.com/office/drawing/2014/main" id="{19A95ECB-9DBC-4803-76AD-733688D17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8B5AA-2EB9-57AE-E5BF-712CE464C22F}"/>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148329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CADC7-7057-141A-363A-2ED5261DD5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A00B1D-7D2B-06E6-0F50-8F0BA7ECCE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8482D-1FBF-F019-63BF-980C88E8BDDB}"/>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5" name="Footer Placeholder 4">
            <a:extLst>
              <a:ext uri="{FF2B5EF4-FFF2-40B4-BE49-F238E27FC236}">
                <a16:creationId xmlns:a16="http://schemas.microsoft.com/office/drawing/2014/main" id="{9D9FD39D-2B85-BAB8-4453-79BA025AE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3BC9D4-E28A-5536-393F-6EE9599A88C2}"/>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2165417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754340-F4FF-DDE9-E3DB-B68491677E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AECB1F-0E16-7F46-F9AB-0DF38F321B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6331E-370E-DFC1-1DA8-A1A97E8C6D6F}"/>
              </a:ext>
            </a:extLst>
          </p:cNvPr>
          <p:cNvSpPr>
            <a:spLocks noGrp="1"/>
          </p:cNvSpPr>
          <p:nvPr>
            <p:ph type="dt" sz="half" idx="10"/>
          </p:nvPr>
        </p:nvSpPr>
        <p:spPr/>
        <p:txBody>
          <a:bodyPr/>
          <a:lstStyle/>
          <a:p>
            <a:fld id="{8EF0B36C-D8E9-425F-BFBA-484B7B294104}" type="datetimeFigureOut">
              <a:rPr lang="en-US" smtClean="0"/>
              <a:t>3/26/2025</a:t>
            </a:fld>
            <a:endParaRPr lang="en-US"/>
          </a:p>
        </p:txBody>
      </p:sp>
      <p:sp>
        <p:nvSpPr>
          <p:cNvPr id="5" name="Footer Placeholder 4">
            <a:extLst>
              <a:ext uri="{FF2B5EF4-FFF2-40B4-BE49-F238E27FC236}">
                <a16:creationId xmlns:a16="http://schemas.microsoft.com/office/drawing/2014/main" id="{428EACF0-72FA-289E-5067-1EE0050EB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B7D03-4492-4D10-EAD3-6ABC40F1B9CB}"/>
              </a:ext>
            </a:extLst>
          </p:cNvPr>
          <p:cNvSpPr>
            <a:spLocks noGrp="1"/>
          </p:cNvSpPr>
          <p:nvPr>
            <p:ph type="sldNum" sz="quarter" idx="12"/>
          </p:nvPr>
        </p:nvSpPr>
        <p:spPr/>
        <p:txBody>
          <a:bodyPr/>
          <a:lstStyle/>
          <a:p>
            <a:fld id="{6BF0665E-3CDB-4A6B-9022-A76FC8B95F31}" type="slidenum">
              <a:rPr lang="en-US" smtClean="0"/>
              <a:t>‹#›</a:t>
            </a:fld>
            <a:endParaRPr lang="en-US"/>
          </a:p>
        </p:txBody>
      </p:sp>
    </p:spTree>
    <p:extLst>
      <p:ext uri="{BB962C8B-B14F-4D97-AF65-F5344CB8AC3E}">
        <p14:creationId xmlns:p14="http://schemas.microsoft.com/office/powerpoint/2010/main" val="360963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E89F80-C076-1D3A-69DC-E3DC0E19C2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0E2EB5-A3F2-94C6-8F22-D0FDDAAB1D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C5C660-AFD5-8062-5C31-DDA5F1AB65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F0B36C-D8E9-425F-BFBA-484B7B294104}" type="datetimeFigureOut">
              <a:rPr lang="en-US" smtClean="0"/>
              <a:t>3/26/2025</a:t>
            </a:fld>
            <a:endParaRPr lang="en-US"/>
          </a:p>
        </p:txBody>
      </p:sp>
      <p:sp>
        <p:nvSpPr>
          <p:cNvPr id="5" name="Footer Placeholder 4">
            <a:extLst>
              <a:ext uri="{FF2B5EF4-FFF2-40B4-BE49-F238E27FC236}">
                <a16:creationId xmlns:a16="http://schemas.microsoft.com/office/drawing/2014/main" id="{3210C3BF-1CAD-085E-4BDB-A77CF15B4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2546E2-E783-55B9-5EBB-239124712B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F0665E-3CDB-4A6B-9022-A76FC8B95F31}" type="slidenum">
              <a:rPr lang="en-US" smtClean="0"/>
              <a:t>‹#›</a:t>
            </a:fld>
            <a:endParaRPr lang="en-US"/>
          </a:p>
        </p:txBody>
      </p:sp>
    </p:spTree>
    <p:extLst>
      <p:ext uri="{BB962C8B-B14F-4D97-AF65-F5344CB8AC3E}">
        <p14:creationId xmlns:p14="http://schemas.microsoft.com/office/powerpoint/2010/main" val="601716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0976-8A1F-15B5-1B24-6D4867D9AFFE}"/>
              </a:ext>
            </a:extLst>
          </p:cNvPr>
          <p:cNvSpPr>
            <a:spLocks noGrp="1"/>
          </p:cNvSpPr>
          <p:nvPr>
            <p:ph type="ctrTitle"/>
          </p:nvPr>
        </p:nvSpPr>
        <p:spPr/>
        <p:txBody>
          <a:bodyPr>
            <a:normAutofit/>
          </a:bodyPr>
          <a:lstStyle/>
          <a:p>
            <a:r>
              <a:rPr lang="en-US" sz="6600" b="1" dirty="0"/>
              <a:t>Cryptographic Hash Functions</a:t>
            </a:r>
          </a:p>
        </p:txBody>
      </p:sp>
    </p:spTree>
    <p:extLst>
      <p:ext uri="{BB962C8B-B14F-4D97-AF65-F5344CB8AC3E}">
        <p14:creationId xmlns:p14="http://schemas.microsoft.com/office/powerpoint/2010/main" val="1178668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1893-C8DF-D33B-B65C-C8CB2B9CB7B4}"/>
              </a:ext>
            </a:extLst>
          </p:cNvPr>
          <p:cNvSpPr>
            <a:spLocks noGrp="1"/>
          </p:cNvSpPr>
          <p:nvPr>
            <p:ph type="title"/>
          </p:nvPr>
        </p:nvSpPr>
        <p:spPr>
          <a:xfrm>
            <a:off x="838200" y="150905"/>
            <a:ext cx="10515600" cy="1060263"/>
          </a:xfrm>
        </p:spPr>
        <p:txBody>
          <a:bodyPr/>
          <a:lstStyle/>
          <a:p>
            <a:pPr algn="ctr"/>
            <a:r>
              <a:rPr lang="en-US" b="1" dirty="0">
                <a:latin typeface="Times New Roman" panose="02020603050405020304" pitchFamily="18" charset="0"/>
                <a:cs typeface="Times New Roman" panose="02020603050405020304" pitchFamily="18" charset="0"/>
              </a:rPr>
              <a:t>PROJECT TOPICS</a:t>
            </a:r>
            <a:endParaRPr lang="en-GH"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1D1BED-55CE-89BB-9EF2-8FE909043AFE}"/>
              </a:ext>
            </a:extLst>
          </p:cNvPr>
          <p:cNvSpPr>
            <a:spLocks noGrp="1"/>
          </p:cNvSpPr>
          <p:nvPr>
            <p:ph idx="1"/>
          </p:nvPr>
        </p:nvSpPr>
        <p:spPr>
          <a:xfrm>
            <a:off x="838200" y="1211168"/>
            <a:ext cx="10515600" cy="4965795"/>
          </a:xfrm>
        </p:spPr>
        <p:txBody>
          <a:bodyPr>
            <a:normAutofit/>
          </a:bodyPr>
          <a:lstStyle/>
          <a:p>
            <a:pPr marL="742950" indent="-742950">
              <a:lnSpc>
                <a:spcPct val="107000"/>
              </a:lnSpc>
              <a:spcAft>
                <a:spcPts val="800"/>
              </a:spcAft>
              <a:buFont typeface="+mj-lt"/>
              <a:buAutoNum type="arabicPeriod"/>
            </a:pPr>
            <a:r>
              <a:rPr lang="en-GH" sz="4000" kern="100" dirty="0">
                <a:effectLst/>
                <a:latin typeface="Times New Roman" panose="02020603050405020304" pitchFamily="18" charset="0"/>
                <a:ea typeface="Calibri" panose="020F0502020204030204" pitchFamily="34" charset="0"/>
                <a:cs typeface="Times New Roman" panose="02020603050405020304" pitchFamily="18" charset="0"/>
              </a:rPr>
              <a:t>Signature protocols</a:t>
            </a:r>
          </a:p>
          <a:p>
            <a:pPr marL="742950" indent="-742950">
              <a:lnSpc>
                <a:spcPct val="107000"/>
              </a:lnSpc>
              <a:spcAft>
                <a:spcPts val="800"/>
              </a:spcAft>
              <a:buFont typeface="+mj-lt"/>
              <a:buAutoNum type="arabicPeriod"/>
            </a:pPr>
            <a:r>
              <a:rPr lang="en-GH" sz="4000" kern="100" dirty="0">
                <a:effectLst/>
                <a:latin typeface="Times New Roman" panose="02020603050405020304" pitchFamily="18" charset="0"/>
                <a:ea typeface="Calibri" panose="020F0502020204030204" pitchFamily="34" charset="0"/>
                <a:cs typeface="Times New Roman" panose="02020603050405020304" pitchFamily="18" charset="0"/>
              </a:rPr>
              <a:t>Authentication protocols </a:t>
            </a:r>
          </a:p>
          <a:p>
            <a:pPr marL="742950" indent="-742950">
              <a:lnSpc>
                <a:spcPct val="107000"/>
              </a:lnSpc>
              <a:spcAft>
                <a:spcPts val="800"/>
              </a:spcAft>
              <a:buFont typeface="+mj-lt"/>
              <a:buAutoNum type="arabicPeriod"/>
            </a:pPr>
            <a:r>
              <a:rPr lang="en-GH" sz="4000" kern="100" dirty="0">
                <a:effectLst/>
                <a:latin typeface="Times New Roman" panose="02020603050405020304" pitchFamily="18" charset="0"/>
                <a:ea typeface="Calibri" panose="020F0502020204030204" pitchFamily="34" charset="0"/>
                <a:cs typeface="Times New Roman" panose="02020603050405020304" pitchFamily="18" charset="0"/>
              </a:rPr>
              <a:t>System security</a:t>
            </a:r>
          </a:p>
          <a:p>
            <a:pPr marL="742950" indent="-742950">
              <a:lnSpc>
                <a:spcPct val="107000"/>
              </a:lnSpc>
              <a:spcAft>
                <a:spcPts val="800"/>
              </a:spcAft>
              <a:buFont typeface="+mj-lt"/>
              <a:buAutoNum type="arabicPeriod"/>
            </a:pPr>
            <a:r>
              <a:rPr lang="en-GH" sz="4000" kern="100" dirty="0">
                <a:effectLst/>
                <a:latin typeface="Times New Roman" panose="02020603050405020304" pitchFamily="18" charset="0"/>
                <a:ea typeface="Calibri" panose="020F0502020204030204" pitchFamily="34" charset="0"/>
                <a:cs typeface="Times New Roman" panose="02020603050405020304" pitchFamily="18" charset="0"/>
              </a:rPr>
              <a:t>Firewall designs and operations</a:t>
            </a:r>
          </a:p>
          <a:p>
            <a:pPr marL="742950" indent="-742950">
              <a:lnSpc>
                <a:spcPct val="107000"/>
              </a:lnSpc>
              <a:spcAft>
                <a:spcPts val="800"/>
              </a:spcAft>
              <a:buFont typeface="+mj-lt"/>
              <a:buAutoNum type="arabicPeriod"/>
            </a:pPr>
            <a:r>
              <a:rPr lang="en-GH" sz="4000" kern="0" dirty="0">
                <a:effectLst/>
                <a:latin typeface="Times New Roman" panose="02020603050405020304" pitchFamily="18" charset="0"/>
                <a:ea typeface="Calibri" panose="020F0502020204030204" pitchFamily="34" charset="0"/>
                <a:cs typeface="Times New Roman" panose="02020603050405020304" pitchFamily="18" charset="0"/>
              </a:rPr>
              <a:t>Digital Signatures</a:t>
            </a:r>
            <a:endParaRPr lang="en-GH" sz="4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489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E9CD1-5901-09E4-2C5F-AA4E0CE6E9B5}"/>
              </a:ext>
            </a:extLst>
          </p:cNvPr>
          <p:cNvSpPr>
            <a:spLocks noGrp="1"/>
          </p:cNvSpPr>
          <p:nvPr>
            <p:ph type="title"/>
          </p:nvPr>
        </p:nvSpPr>
        <p:spPr>
          <a:xfrm>
            <a:off x="717176" y="0"/>
            <a:ext cx="10515600" cy="635748"/>
          </a:xfrm>
        </p:spPr>
        <p:txBody>
          <a:bodyPr>
            <a:normAutofit fontScale="90000"/>
          </a:bodyPr>
          <a:lstStyle/>
          <a:p>
            <a:pPr algn="ctr"/>
            <a:r>
              <a:rPr lang="en-US" sz="6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EA6C87A-80F6-882A-0847-1EBAB5E9D304}"/>
              </a:ext>
            </a:extLst>
          </p:cNvPr>
          <p:cNvSpPr>
            <a:spLocks noGrp="1"/>
          </p:cNvSpPr>
          <p:nvPr>
            <p:ph idx="1"/>
          </p:nvPr>
        </p:nvSpPr>
        <p:spPr>
          <a:xfrm>
            <a:off x="510988" y="1479176"/>
            <a:ext cx="10842812" cy="4074459"/>
          </a:xfrm>
        </p:spPr>
        <p:txBody>
          <a:bodyPr>
            <a:noAutofit/>
          </a:bodyPr>
          <a:lstStyle/>
          <a:p>
            <a:pPr algn="just"/>
            <a:r>
              <a:rPr lang="en-US" sz="3600" dirty="0">
                <a:latin typeface="Times New Roman" panose="02020603050405020304" pitchFamily="18" charset="0"/>
                <a:cs typeface="Times New Roman" panose="02020603050405020304" pitchFamily="18" charset="0"/>
              </a:rPr>
              <a:t>A </a:t>
            </a:r>
            <a:r>
              <a:rPr lang="en-US" sz="3600" b="1" dirty="0">
                <a:latin typeface="Times New Roman" panose="02020603050405020304" pitchFamily="18" charset="0"/>
                <a:cs typeface="Times New Roman" panose="02020603050405020304" pitchFamily="18" charset="0"/>
              </a:rPr>
              <a:t>hash function H </a:t>
            </a:r>
            <a:r>
              <a:rPr lang="en-US" sz="3600" dirty="0">
                <a:latin typeface="Times New Roman" panose="02020603050405020304" pitchFamily="18" charset="0"/>
                <a:cs typeface="Times New Roman" panose="02020603050405020304" pitchFamily="18" charset="0"/>
              </a:rPr>
              <a:t>accepts a variable-length block of data M as input and produces a fixed-size hash value, h = H(M).</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The kind of hash function needed for security applications is referred to as a </a:t>
            </a:r>
            <a:r>
              <a:rPr lang="en-US" sz="3600" b="1" dirty="0">
                <a:latin typeface="Times New Roman" panose="02020603050405020304" pitchFamily="18" charset="0"/>
                <a:cs typeface="Times New Roman" panose="02020603050405020304" pitchFamily="18" charset="0"/>
              </a:rPr>
              <a:t>cryptographic hash function</a:t>
            </a:r>
            <a:r>
              <a:rPr lang="en-US" sz="3600" dirty="0">
                <a:latin typeface="Times New Roman" panose="02020603050405020304" pitchFamily="18" charset="0"/>
                <a:cs typeface="Times New Roman" panose="02020603050405020304" pitchFamily="18" charset="0"/>
              </a:rPr>
              <a:t>.</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270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2D8E9-41BA-3852-65BD-8CC485DE6AE9}"/>
              </a:ext>
            </a:extLst>
          </p:cNvPr>
          <p:cNvSpPr>
            <a:spLocks noGrp="1"/>
          </p:cNvSpPr>
          <p:nvPr>
            <p:ph type="title"/>
          </p:nvPr>
        </p:nvSpPr>
        <p:spPr>
          <a:xfrm>
            <a:off x="838200" y="0"/>
            <a:ext cx="10515600" cy="806824"/>
          </a:xfrm>
        </p:spPr>
        <p:txBody>
          <a:bodyPr>
            <a:normAutofit/>
          </a:bodyPr>
          <a:lstStyle/>
          <a:p>
            <a:pPr algn="ctr"/>
            <a:r>
              <a:rPr lang="en-US" b="1" dirty="0">
                <a:latin typeface="Times New Roman" panose="02020603050405020304" pitchFamily="18" charset="0"/>
                <a:cs typeface="Times New Roman" panose="02020603050405020304" pitchFamily="18" charset="0"/>
              </a:rPr>
              <a:t>Introduction</a:t>
            </a:r>
            <a:endParaRPr lang="en-GH"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6D2E1E-35A4-137F-0D50-B8871E8407F8}"/>
              </a:ext>
            </a:extLst>
          </p:cNvPr>
          <p:cNvSpPr>
            <a:spLocks noGrp="1"/>
          </p:cNvSpPr>
          <p:nvPr>
            <p:ph idx="1"/>
          </p:nvPr>
        </p:nvSpPr>
        <p:spPr>
          <a:xfrm>
            <a:off x="838200" y="995082"/>
            <a:ext cx="10515600" cy="5715000"/>
          </a:xfrm>
        </p:spPr>
        <p:txBody>
          <a:bodyPr>
            <a:normAutofit/>
          </a:bodyPr>
          <a:lstStyle/>
          <a:p>
            <a:pPr algn="just"/>
            <a:r>
              <a:rPr lang="en-US" sz="3200" dirty="0">
                <a:latin typeface="Times New Roman" panose="02020603050405020304" pitchFamily="18" charset="0"/>
                <a:cs typeface="Times New Roman" panose="02020603050405020304" pitchFamily="18" charset="0"/>
              </a:rPr>
              <a:t>A cryptographic hash function is an algorithm for which it is computationally infeasible  to find either;</a:t>
            </a:r>
          </a:p>
          <a:p>
            <a:pPr algn="just"/>
            <a:endParaRPr lang="en-US" sz="32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A data object that maps to a pre-specified hash result (the one-way property). Which means after hashing a message, it should be impossible to regenerate the original message.</a:t>
            </a:r>
          </a:p>
          <a:p>
            <a:pPr lvl="1" algn="just">
              <a:buFont typeface="Wingdings" panose="05000000000000000000" pitchFamily="2" charset="2"/>
              <a:buChar char="ü"/>
            </a:pPr>
            <a:endParaRPr lang="en-US" sz="32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Two data objects that map to the same hash result (the collision-free property). There should not be any case where that two different messages would produce the same hash result after applying a hash function.</a:t>
            </a:r>
          </a:p>
          <a:p>
            <a:endParaRPr lang="en-GH" sz="3600" dirty="0"/>
          </a:p>
        </p:txBody>
      </p:sp>
    </p:spTree>
    <p:extLst>
      <p:ext uri="{BB962C8B-B14F-4D97-AF65-F5344CB8AC3E}">
        <p14:creationId xmlns:p14="http://schemas.microsoft.com/office/powerpoint/2010/main" val="82270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FBBF-5BF8-9D01-34A1-F512B10448D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Diagram</a:t>
            </a:r>
          </a:p>
        </p:txBody>
      </p:sp>
      <p:pic>
        <p:nvPicPr>
          <p:cNvPr id="5" name="Content Placeholder 4">
            <a:extLst>
              <a:ext uri="{FF2B5EF4-FFF2-40B4-BE49-F238E27FC236}">
                <a16:creationId xmlns:a16="http://schemas.microsoft.com/office/drawing/2014/main" id="{5202FA9A-4A15-6103-4543-B7656060505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32" t="1" b="284"/>
          <a:stretch/>
        </p:blipFill>
        <p:spPr>
          <a:xfrm>
            <a:off x="2180493" y="1825625"/>
            <a:ext cx="7062104" cy="4772123"/>
          </a:xfrm>
        </p:spPr>
      </p:pic>
    </p:spTree>
    <p:extLst>
      <p:ext uri="{BB962C8B-B14F-4D97-AF65-F5344CB8AC3E}">
        <p14:creationId xmlns:p14="http://schemas.microsoft.com/office/powerpoint/2010/main" val="492519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4662F-0D76-6C3A-65C6-283D3BB371A9}"/>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APPLICATIONS OF CRYPTOGRAPHIC HASH FUNCTIONS</a:t>
            </a:r>
          </a:p>
        </p:txBody>
      </p:sp>
      <p:sp>
        <p:nvSpPr>
          <p:cNvPr id="3" name="Content Placeholder 2">
            <a:extLst>
              <a:ext uri="{FF2B5EF4-FFF2-40B4-BE49-F238E27FC236}">
                <a16:creationId xmlns:a16="http://schemas.microsoft.com/office/drawing/2014/main" id="{702332A9-1274-E00C-0BFB-1FDDD68CC042}"/>
              </a:ext>
            </a:extLst>
          </p:cNvPr>
          <p:cNvSpPr>
            <a:spLocks noGrp="1"/>
          </p:cNvSpPr>
          <p:nvPr>
            <p:ph idx="1"/>
          </p:nvPr>
        </p:nvSpPr>
        <p:spPr>
          <a:xfrm>
            <a:off x="838200" y="1690689"/>
            <a:ext cx="10515600" cy="4486274"/>
          </a:xfrm>
        </p:spPr>
        <p:txBody>
          <a:bodyPr>
            <a:normAutofit/>
          </a:bodyPr>
          <a:lstStyle/>
          <a:p>
            <a:pPr>
              <a:lnSpc>
                <a:spcPct val="200000"/>
              </a:lnSpc>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 Message Authentication</a:t>
            </a:r>
          </a:p>
          <a:p>
            <a:pPr>
              <a:lnSpc>
                <a:spcPct val="200000"/>
              </a:lnSpc>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 Digital signature</a:t>
            </a:r>
            <a:endParaRPr lang="en-US" sz="3200"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 Other applications </a:t>
            </a:r>
            <a:r>
              <a:rPr lang="en-US" sz="3200" dirty="0">
                <a:latin typeface="Times New Roman" panose="02020603050405020304" pitchFamily="18" charset="0"/>
                <a:cs typeface="Times New Roman" panose="02020603050405020304" pitchFamily="18" charset="0"/>
              </a:rPr>
              <a:t>- can be used for </a:t>
            </a:r>
            <a:r>
              <a:rPr lang="en-US" sz="3200" b="1" i="1" dirty="0">
                <a:latin typeface="Times New Roman" panose="02020603050405020304" pitchFamily="18" charset="0"/>
                <a:cs typeface="Times New Roman" panose="02020603050405020304" pitchFamily="18" charset="0"/>
              </a:rPr>
              <a:t>one-way password</a:t>
            </a:r>
            <a:r>
              <a:rPr lang="en-US" sz="3200" dirty="0">
                <a:latin typeface="Times New Roman" panose="02020603050405020304" pitchFamily="18" charset="0"/>
                <a:cs typeface="Times New Roman" panose="02020603050405020304" pitchFamily="18" charset="0"/>
              </a:rPr>
              <a:t>, </a:t>
            </a:r>
            <a:r>
              <a:rPr lang="en-US" sz="3200" b="1" i="1" dirty="0">
                <a:latin typeface="Times New Roman" panose="02020603050405020304" pitchFamily="18" charset="0"/>
                <a:cs typeface="Times New Roman" panose="02020603050405020304" pitchFamily="18" charset="0"/>
              </a:rPr>
              <a:t>intrusion detection </a:t>
            </a:r>
            <a:r>
              <a:rPr lang="en-US" sz="3200" dirty="0">
                <a:latin typeface="Times New Roman" panose="02020603050405020304" pitchFamily="18" charset="0"/>
                <a:cs typeface="Times New Roman" panose="02020603050405020304" pitchFamily="18" charset="0"/>
              </a:rPr>
              <a:t>and </a:t>
            </a:r>
            <a:r>
              <a:rPr lang="en-US" sz="3200" b="1" i="1" dirty="0">
                <a:latin typeface="Times New Roman" panose="02020603050405020304" pitchFamily="18" charset="0"/>
                <a:cs typeface="Times New Roman" panose="02020603050405020304" pitchFamily="18" charset="0"/>
              </a:rPr>
              <a:t>virus detection.</a:t>
            </a:r>
          </a:p>
          <a:p>
            <a:pPr>
              <a:lnSpc>
                <a:spcPct val="200000"/>
              </a:lnSpc>
              <a:buFont typeface="Wingdings" panose="05000000000000000000" pitchFamily="2" charset="2"/>
              <a:buChar char="v"/>
            </a:pPr>
            <a:endParaRPr lang="en-US" sz="32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38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2771-740A-8765-2823-DB2B2A56CC01}"/>
              </a:ext>
            </a:extLst>
          </p:cNvPr>
          <p:cNvSpPr>
            <a:spLocks noGrp="1"/>
          </p:cNvSpPr>
          <p:nvPr>
            <p:ph type="title"/>
          </p:nvPr>
        </p:nvSpPr>
        <p:spPr>
          <a:xfrm>
            <a:off x="744070" y="0"/>
            <a:ext cx="10515600" cy="845110"/>
          </a:xfrm>
        </p:spPr>
        <p:txBody>
          <a:bodyPr>
            <a:normAutofit/>
          </a:bodyPr>
          <a:lstStyle/>
          <a:p>
            <a:pPr algn="ctr"/>
            <a:r>
              <a:rPr lang="en-US" sz="4000" b="1" dirty="0">
                <a:latin typeface="Times New Roman" panose="02020603050405020304" pitchFamily="18" charset="0"/>
                <a:cs typeface="Times New Roman" panose="02020603050405020304" pitchFamily="18" charset="0"/>
              </a:rPr>
              <a:t>Message Authentication</a:t>
            </a:r>
            <a:endParaRPr lang="en-US" sz="4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9C62025-D680-91E4-980D-116F4A2578BD}"/>
              </a:ext>
            </a:extLst>
          </p:cNvPr>
          <p:cNvSpPr txBox="1"/>
          <p:nvPr/>
        </p:nvSpPr>
        <p:spPr>
          <a:xfrm>
            <a:off x="932330" y="845110"/>
            <a:ext cx="10162735" cy="6740307"/>
          </a:xfrm>
          <a:prstGeom prst="rect">
            <a:avLst/>
          </a:prstGeom>
          <a:noFill/>
        </p:spPr>
        <p:txBody>
          <a:bodyPr wrap="square">
            <a:spAutoFit/>
          </a:bodyPr>
          <a:lstStyle/>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Message authentication is a mechanism or service used to verify the integrity of a message.</a:t>
            </a:r>
          </a:p>
          <a:p>
            <a:pPr marL="457200" indent="-457200" algn="just">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Message authentication assures that data received are exactly as sent (i.e., there is no modification, insertion, deletion, or replay).</a:t>
            </a:r>
          </a:p>
          <a:p>
            <a:pPr marL="457200" indent="-457200" algn="just">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When a hash function is used to provide message authentication, the hash function value is often referred to as a </a:t>
            </a:r>
            <a:r>
              <a:rPr lang="en-US" sz="3600" b="1" dirty="0">
                <a:latin typeface="Times New Roman" panose="02020603050405020304" pitchFamily="18" charset="0"/>
                <a:cs typeface="Times New Roman" panose="02020603050405020304" pitchFamily="18" charset="0"/>
              </a:rPr>
              <a:t>message digest</a:t>
            </a:r>
            <a:r>
              <a:rPr lang="en-US" sz="3600"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709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D2AAB-57AE-833A-C44B-532956DCFD71}"/>
              </a:ext>
            </a:extLst>
          </p:cNvPr>
          <p:cNvSpPr>
            <a:spLocks noGrp="1"/>
          </p:cNvSpPr>
          <p:nvPr>
            <p:ph type="title"/>
          </p:nvPr>
        </p:nvSpPr>
        <p:spPr>
          <a:xfrm>
            <a:off x="695524" y="138318"/>
            <a:ext cx="10515600" cy="872004"/>
          </a:xfrm>
        </p:spPr>
        <p:txBody>
          <a:bodyPr/>
          <a:lstStyle/>
          <a:p>
            <a:pPr algn="ctr"/>
            <a:r>
              <a:rPr lang="en-US" b="1" dirty="0">
                <a:latin typeface="Times New Roman" panose="02020603050405020304" pitchFamily="18" charset="0"/>
                <a:cs typeface="Times New Roman" panose="02020603050405020304" pitchFamily="18" charset="0"/>
              </a:rPr>
              <a:t>Message Authentication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E52D37-6238-D3A2-921F-F0277A9A00E6}"/>
              </a:ext>
            </a:extLst>
          </p:cNvPr>
          <p:cNvSpPr>
            <a:spLocks noGrp="1"/>
          </p:cNvSpPr>
          <p:nvPr>
            <p:ph idx="1"/>
          </p:nvPr>
        </p:nvSpPr>
        <p:spPr>
          <a:xfrm>
            <a:off x="475130" y="1396441"/>
            <a:ext cx="5478194" cy="5096434"/>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The sender computes a hash value as a function of the bits in the message and transmits both the hash value and the message.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receiver performs the same hash calculation on the message bits and compares this value with the incoming hash value. </a:t>
            </a:r>
          </a:p>
          <a:p>
            <a:pPr algn="just"/>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DA01D87-F019-39D1-63AF-E7D0DF290D53}"/>
              </a:ext>
            </a:extLst>
          </p:cNvPr>
          <p:cNvPicPr>
            <a:picLocks noChangeAspect="1"/>
          </p:cNvPicPr>
          <p:nvPr/>
        </p:nvPicPr>
        <p:blipFill>
          <a:blip r:embed="rId2"/>
          <a:stretch>
            <a:fillRect/>
          </a:stretch>
        </p:blipFill>
        <p:spPr>
          <a:xfrm>
            <a:off x="6545140" y="1396441"/>
            <a:ext cx="5327919" cy="4451237"/>
          </a:xfrm>
          <a:prstGeom prst="rect">
            <a:avLst/>
          </a:prstGeom>
        </p:spPr>
      </p:pic>
    </p:spTree>
    <p:extLst>
      <p:ext uri="{BB962C8B-B14F-4D97-AF65-F5344CB8AC3E}">
        <p14:creationId xmlns:p14="http://schemas.microsoft.com/office/powerpoint/2010/main" val="1283813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CF72-4DC2-F9DB-1B84-EC3A9104ECFB}"/>
              </a:ext>
            </a:extLst>
          </p:cNvPr>
          <p:cNvSpPr>
            <a:spLocks noGrp="1"/>
          </p:cNvSpPr>
          <p:nvPr>
            <p:ph type="title"/>
          </p:nvPr>
        </p:nvSpPr>
        <p:spPr>
          <a:xfrm>
            <a:off x="838200" y="77143"/>
            <a:ext cx="10515600" cy="912346"/>
          </a:xfrm>
        </p:spPr>
        <p:txBody>
          <a:bodyPr/>
          <a:lstStyle/>
          <a:p>
            <a:pPr algn="ctr"/>
            <a:r>
              <a:rPr lang="en-US" b="1" dirty="0">
                <a:latin typeface="Times New Roman" panose="02020603050405020304" pitchFamily="18" charset="0"/>
                <a:cs typeface="Times New Roman" panose="02020603050405020304" pitchFamily="18" charset="0"/>
              </a:rPr>
              <a:t>Message Authentication</a:t>
            </a:r>
            <a:endParaRPr lang="en-US"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762BFABD-38B2-7DE4-CE29-F71D31F775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6761" y="2856892"/>
            <a:ext cx="7848083" cy="4001108"/>
          </a:xfrm>
          <a:prstGeom prst="rect">
            <a:avLst/>
          </a:prstGeom>
        </p:spPr>
      </p:pic>
      <p:sp>
        <p:nvSpPr>
          <p:cNvPr id="6" name="TextBox 5">
            <a:extLst>
              <a:ext uri="{FF2B5EF4-FFF2-40B4-BE49-F238E27FC236}">
                <a16:creationId xmlns:a16="http://schemas.microsoft.com/office/drawing/2014/main" id="{E4EC2BEA-808F-615F-EAE4-3F8076D06CF5}"/>
              </a:ext>
            </a:extLst>
          </p:cNvPr>
          <p:cNvSpPr txBox="1"/>
          <p:nvPr/>
        </p:nvSpPr>
        <p:spPr>
          <a:xfrm>
            <a:off x="711591" y="1303198"/>
            <a:ext cx="10642209" cy="1815882"/>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hash value must be transmitted in a secure fashion. That is, the hash value must be protected so that if an adversary alters or replaces the message, it is not feasible for adversary to also alter the hash value to fool the receiver. </a:t>
            </a:r>
          </a:p>
        </p:txBody>
      </p:sp>
    </p:spTree>
    <p:extLst>
      <p:ext uri="{BB962C8B-B14F-4D97-AF65-F5344CB8AC3E}">
        <p14:creationId xmlns:p14="http://schemas.microsoft.com/office/powerpoint/2010/main" val="4057237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A391-DAA8-8300-51F9-53A99DAA6FA9}"/>
              </a:ext>
            </a:extLst>
          </p:cNvPr>
          <p:cNvSpPr>
            <a:spLocks noGrp="1"/>
          </p:cNvSpPr>
          <p:nvPr>
            <p:ph type="title"/>
          </p:nvPr>
        </p:nvSpPr>
        <p:spPr>
          <a:xfrm>
            <a:off x="717452" y="0"/>
            <a:ext cx="10515600" cy="1200150"/>
          </a:xfrm>
        </p:spPr>
        <p:txBody>
          <a:bodyPr>
            <a:normAutofit/>
          </a:bodyPr>
          <a:lstStyle/>
          <a:p>
            <a:pPr marL="0" indent="0" algn="ctr">
              <a:buNone/>
            </a:pPr>
            <a:r>
              <a:rPr lang="en-US" sz="3200" b="1" dirty="0">
                <a:latin typeface="Times New Roman" panose="02020603050405020304" pitchFamily="18" charset="0"/>
                <a:cs typeface="Times New Roman" panose="02020603050405020304" pitchFamily="18" charset="0"/>
              </a:rPr>
              <a:t>Ways in which a hash code can be used to provide message authentication</a:t>
            </a:r>
          </a:p>
        </p:txBody>
      </p:sp>
      <p:sp>
        <p:nvSpPr>
          <p:cNvPr id="3" name="Content Placeholder 2">
            <a:extLst>
              <a:ext uri="{FF2B5EF4-FFF2-40B4-BE49-F238E27FC236}">
                <a16:creationId xmlns:a16="http://schemas.microsoft.com/office/drawing/2014/main" id="{ACEA3463-1412-9C64-4B20-76BED73789B7}"/>
              </a:ext>
            </a:extLst>
          </p:cNvPr>
          <p:cNvSpPr>
            <a:spLocks noGrp="1"/>
          </p:cNvSpPr>
          <p:nvPr>
            <p:ph idx="1"/>
          </p:nvPr>
        </p:nvSpPr>
        <p:spPr>
          <a:xfrm>
            <a:off x="717452" y="1099057"/>
            <a:ext cx="10636348" cy="1834221"/>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The message plus concatenated hash code is encrypted using symmetric encryption. Because only A and B share the secret key, the message must have come from A and has not been altered. </a:t>
            </a:r>
          </a:p>
        </p:txBody>
      </p:sp>
      <p:pic>
        <p:nvPicPr>
          <p:cNvPr id="5" name="Picture 4">
            <a:extLst>
              <a:ext uri="{FF2B5EF4-FFF2-40B4-BE49-F238E27FC236}">
                <a16:creationId xmlns:a16="http://schemas.microsoft.com/office/drawing/2014/main" id="{8923B8D4-E676-E93B-C79A-7B7BCF50E5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5256" y="3109006"/>
            <a:ext cx="9221487" cy="2238687"/>
          </a:xfrm>
          <a:prstGeom prst="rect">
            <a:avLst/>
          </a:prstGeom>
        </p:spPr>
      </p:pic>
      <p:sp>
        <p:nvSpPr>
          <p:cNvPr id="6" name="TextBox 5">
            <a:extLst>
              <a:ext uri="{FF2B5EF4-FFF2-40B4-BE49-F238E27FC236}">
                <a16:creationId xmlns:a16="http://schemas.microsoft.com/office/drawing/2014/main" id="{657F85BD-125D-AA20-2186-945DF52BB2DA}"/>
              </a:ext>
            </a:extLst>
          </p:cNvPr>
          <p:cNvSpPr txBox="1"/>
          <p:nvPr/>
        </p:nvSpPr>
        <p:spPr>
          <a:xfrm>
            <a:off x="574016" y="5347693"/>
            <a:ext cx="10802471" cy="1200329"/>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hash code provides the structure or redundancy required to achieve authentication. Because encryption is applied to the entire message plus hash code, confidentiality is also provided.</a:t>
            </a:r>
          </a:p>
        </p:txBody>
      </p:sp>
    </p:spTree>
    <p:extLst>
      <p:ext uri="{BB962C8B-B14F-4D97-AF65-F5344CB8AC3E}">
        <p14:creationId xmlns:p14="http://schemas.microsoft.com/office/powerpoint/2010/main" val="43407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A391-DAA8-8300-51F9-53A99DAA6FA9}"/>
              </a:ext>
            </a:extLst>
          </p:cNvPr>
          <p:cNvSpPr>
            <a:spLocks noGrp="1"/>
          </p:cNvSpPr>
          <p:nvPr>
            <p:ph type="title"/>
          </p:nvPr>
        </p:nvSpPr>
        <p:spPr>
          <a:xfrm>
            <a:off x="838200" y="0"/>
            <a:ext cx="10515600" cy="1064800"/>
          </a:xfrm>
        </p:spPr>
        <p:txBody>
          <a:bodyPr>
            <a:noAutofit/>
          </a:bodyPr>
          <a:lstStyle/>
          <a:p>
            <a:pPr marL="0" indent="0" algn="ctr">
              <a:buNone/>
            </a:pPr>
            <a:r>
              <a:rPr lang="en-US" sz="3600" b="1" dirty="0">
                <a:latin typeface="Times New Roman" panose="02020603050405020304" pitchFamily="18" charset="0"/>
                <a:cs typeface="Times New Roman" panose="02020603050405020304" pitchFamily="18" charset="0"/>
              </a:rPr>
              <a:t>Ways in which a hash code can be used to provide message authentication</a:t>
            </a:r>
          </a:p>
        </p:txBody>
      </p:sp>
      <p:sp>
        <p:nvSpPr>
          <p:cNvPr id="3" name="Content Placeholder 2">
            <a:extLst>
              <a:ext uri="{FF2B5EF4-FFF2-40B4-BE49-F238E27FC236}">
                <a16:creationId xmlns:a16="http://schemas.microsoft.com/office/drawing/2014/main" id="{ACEA3463-1412-9C64-4B20-76BED73789B7}"/>
              </a:ext>
            </a:extLst>
          </p:cNvPr>
          <p:cNvSpPr>
            <a:spLocks noGrp="1"/>
          </p:cNvSpPr>
          <p:nvPr>
            <p:ph idx="1"/>
          </p:nvPr>
        </p:nvSpPr>
        <p:spPr>
          <a:xfrm>
            <a:off x="1000564" y="1373726"/>
            <a:ext cx="10190871" cy="1806988"/>
          </a:xfrm>
        </p:spPr>
        <p:txBody>
          <a:bodyPr>
            <a:noAutofit/>
          </a:bodyPr>
          <a:lstStyle/>
          <a:p>
            <a:pPr algn="just">
              <a:lnSpc>
                <a:spcPct val="100000"/>
              </a:lnSpc>
            </a:pPr>
            <a:r>
              <a:rPr lang="en-US" sz="3200" dirty="0">
                <a:latin typeface="Times New Roman" panose="02020603050405020304" pitchFamily="18" charset="0"/>
                <a:cs typeface="Times New Roman" panose="02020603050405020304" pitchFamily="18" charset="0"/>
              </a:rPr>
              <a:t>Only the hash code is encrypted, using symmetric encryption. This reduces the processing burden for those applications that do not require confidentiality.</a:t>
            </a:r>
          </a:p>
        </p:txBody>
      </p:sp>
      <p:pic>
        <p:nvPicPr>
          <p:cNvPr id="7" name="Picture 6">
            <a:extLst>
              <a:ext uri="{FF2B5EF4-FFF2-40B4-BE49-F238E27FC236}">
                <a16:creationId xmlns:a16="http://schemas.microsoft.com/office/drawing/2014/main" id="{C03DDD55-C777-FDBD-7769-B58D52C13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910" y="3180714"/>
            <a:ext cx="9955159" cy="3487890"/>
          </a:xfrm>
          <a:prstGeom prst="rect">
            <a:avLst/>
          </a:prstGeom>
        </p:spPr>
      </p:pic>
    </p:spTree>
    <p:extLst>
      <p:ext uri="{BB962C8B-B14F-4D97-AF65-F5344CB8AC3E}">
        <p14:creationId xmlns:p14="http://schemas.microsoft.com/office/powerpoint/2010/main" val="2403415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A391-DAA8-8300-51F9-53A99DAA6FA9}"/>
              </a:ext>
            </a:extLst>
          </p:cNvPr>
          <p:cNvSpPr>
            <a:spLocks noGrp="1"/>
          </p:cNvSpPr>
          <p:nvPr>
            <p:ph type="title"/>
          </p:nvPr>
        </p:nvSpPr>
        <p:spPr>
          <a:xfrm>
            <a:off x="838200" y="32633"/>
            <a:ext cx="10515600" cy="1373184"/>
          </a:xfrm>
        </p:spPr>
        <p:txBody>
          <a:bodyPr>
            <a:noAutofit/>
          </a:bodyPr>
          <a:lstStyle/>
          <a:p>
            <a:pPr marL="0" indent="0" algn="ctr">
              <a:buNone/>
            </a:pPr>
            <a:r>
              <a:rPr lang="en-US" sz="3600" b="1" dirty="0">
                <a:latin typeface="Times New Roman" panose="02020603050405020304" pitchFamily="18" charset="0"/>
                <a:cs typeface="Times New Roman" panose="02020603050405020304" pitchFamily="18" charset="0"/>
              </a:rPr>
              <a:t>Ways in which a hash code can be used to provide message authentication</a:t>
            </a:r>
          </a:p>
        </p:txBody>
      </p:sp>
      <p:sp>
        <p:nvSpPr>
          <p:cNvPr id="3" name="Content Placeholder 2">
            <a:extLst>
              <a:ext uri="{FF2B5EF4-FFF2-40B4-BE49-F238E27FC236}">
                <a16:creationId xmlns:a16="http://schemas.microsoft.com/office/drawing/2014/main" id="{ACEA3463-1412-9C64-4B20-76BED73789B7}"/>
              </a:ext>
            </a:extLst>
          </p:cNvPr>
          <p:cNvSpPr>
            <a:spLocks noGrp="1"/>
          </p:cNvSpPr>
          <p:nvPr>
            <p:ph idx="1"/>
          </p:nvPr>
        </p:nvSpPr>
        <p:spPr>
          <a:xfrm>
            <a:off x="838200" y="1405817"/>
            <a:ext cx="10515600" cy="1679806"/>
          </a:xfrm>
        </p:spPr>
        <p:txBody>
          <a:bodyPr>
            <a:noAutofit/>
          </a:bodyPr>
          <a:lstStyle/>
          <a:p>
            <a:pPr algn="just">
              <a:lnSpc>
                <a:spcPct val="100000"/>
              </a:lnSpc>
            </a:pPr>
            <a:r>
              <a:rPr lang="en-US" sz="3200" dirty="0">
                <a:latin typeface="Times New Roman" panose="02020603050405020304" pitchFamily="18" charset="0"/>
                <a:cs typeface="Times New Roman" panose="02020603050405020304" pitchFamily="18" charset="0"/>
              </a:rPr>
              <a:t>It is possible to use a hash function but no encryption for message authentication. The technique assumes that the two communicating parties share a common secret value S.</a:t>
            </a:r>
          </a:p>
        </p:txBody>
      </p:sp>
      <p:pic>
        <p:nvPicPr>
          <p:cNvPr id="5" name="Picture 4">
            <a:extLst>
              <a:ext uri="{FF2B5EF4-FFF2-40B4-BE49-F238E27FC236}">
                <a16:creationId xmlns:a16="http://schemas.microsoft.com/office/drawing/2014/main" id="{4FCBE696-3144-9EA2-5452-99D829C42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882" y="2874112"/>
            <a:ext cx="9875849" cy="2486147"/>
          </a:xfrm>
          <a:prstGeom prst="rect">
            <a:avLst/>
          </a:prstGeom>
        </p:spPr>
      </p:pic>
      <p:sp>
        <p:nvSpPr>
          <p:cNvPr id="8" name="TextBox 7">
            <a:extLst>
              <a:ext uri="{FF2B5EF4-FFF2-40B4-BE49-F238E27FC236}">
                <a16:creationId xmlns:a16="http://schemas.microsoft.com/office/drawing/2014/main" id="{3ED826D0-ED37-7DFE-C6D0-E75919C91AE4}"/>
              </a:ext>
            </a:extLst>
          </p:cNvPr>
          <p:cNvSpPr txBox="1"/>
          <p:nvPr/>
        </p:nvSpPr>
        <p:spPr>
          <a:xfrm>
            <a:off x="1044768" y="5091318"/>
            <a:ext cx="10367303"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A computes the hash value over the concatenation of M and S and appends the resulting hash value to M. Because B possesses S, it can recompute the hash value to verify. Because the secret value itself is not sent, an opponent cannot modify an intercepted message and cannot generate a false message.</a:t>
            </a:r>
          </a:p>
        </p:txBody>
      </p:sp>
    </p:spTree>
    <p:extLst>
      <p:ext uri="{BB962C8B-B14F-4D97-AF65-F5344CB8AC3E}">
        <p14:creationId xmlns:p14="http://schemas.microsoft.com/office/powerpoint/2010/main" val="3864772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A391-DAA8-8300-51F9-53A99DAA6FA9}"/>
              </a:ext>
            </a:extLst>
          </p:cNvPr>
          <p:cNvSpPr>
            <a:spLocks noGrp="1"/>
          </p:cNvSpPr>
          <p:nvPr>
            <p:ph type="title"/>
          </p:nvPr>
        </p:nvSpPr>
        <p:spPr>
          <a:xfrm>
            <a:off x="838200" y="0"/>
            <a:ext cx="10515600" cy="1046816"/>
          </a:xfrm>
        </p:spPr>
        <p:txBody>
          <a:bodyPr>
            <a:noAutofit/>
          </a:bodyPr>
          <a:lstStyle/>
          <a:p>
            <a:pPr marL="0" indent="0" algn="ctr">
              <a:buNone/>
            </a:pPr>
            <a:r>
              <a:rPr lang="en-US" sz="3600" b="1" dirty="0">
                <a:latin typeface="Times New Roman" panose="02020603050405020304" pitchFamily="18" charset="0"/>
                <a:cs typeface="Times New Roman" panose="02020603050405020304" pitchFamily="18" charset="0"/>
              </a:rPr>
              <a:t>Ways in which a hash code can be used to provide message authentication</a:t>
            </a:r>
          </a:p>
        </p:txBody>
      </p:sp>
      <p:sp>
        <p:nvSpPr>
          <p:cNvPr id="3" name="Content Placeholder 2">
            <a:extLst>
              <a:ext uri="{FF2B5EF4-FFF2-40B4-BE49-F238E27FC236}">
                <a16:creationId xmlns:a16="http://schemas.microsoft.com/office/drawing/2014/main" id="{ACEA3463-1412-9C64-4B20-76BED73789B7}"/>
              </a:ext>
            </a:extLst>
          </p:cNvPr>
          <p:cNvSpPr>
            <a:spLocks noGrp="1"/>
          </p:cNvSpPr>
          <p:nvPr>
            <p:ph idx="1"/>
          </p:nvPr>
        </p:nvSpPr>
        <p:spPr>
          <a:xfrm>
            <a:off x="838200" y="1371111"/>
            <a:ext cx="10515600" cy="1679806"/>
          </a:xfrm>
        </p:spPr>
        <p:txBody>
          <a:bodyPr>
            <a:noAutofit/>
          </a:bodyPr>
          <a:lstStyle/>
          <a:p>
            <a:pPr>
              <a:lnSpc>
                <a:spcPct val="100000"/>
              </a:lnSpc>
            </a:pPr>
            <a:r>
              <a:rPr lang="en-US" sz="3200" dirty="0">
                <a:latin typeface="Times New Roman" panose="02020603050405020304" pitchFamily="18" charset="0"/>
                <a:cs typeface="Times New Roman" panose="02020603050405020304" pitchFamily="18" charset="0"/>
              </a:rPr>
              <a:t>Confidentiality can be added to the approach of method (c) by encrypting the entire message plus the hash code. </a:t>
            </a:r>
          </a:p>
        </p:txBody>
      </p:sp>
      <p:pic>
        <p:nvPicPr>
          <p:cNvPr id="6" name="Picture 5">
            <a:extLst>
              <a:ext uri="{FF2B5EF4-FFF2-40B4-BE49-F238E27FC236}">
                <a16:creationId xmlns:a16="http://schemas.microsoft.com/office/drawing/2014/main" id="{682EE771-05C2-C183-AC2A-BFA9BE81E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192" y="3036521"/>
            <a:ext cx="10395052" cy="3170610"/>
          </a:xfrm>
          <a:prstGeom prst="rect">
            <a:avLst/>
          </a:prstGeom>
        </p:spPr>
      </p:pic>
    </p:spTree>
    <p:extLst>
      <p:ext uri="{BB962C8B-B14F-4D97-AF65-F5344CB8AC3E}">
        <p14:creationId xmlns:p14="http://schemas.microsoft.com/office/powerpoint/2010/main" val="3241955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A391-DAA8-8300-51F9-53A99DAA6FA9}"/>
              </a:ext>
            </a:extLst>
          </p:cNvPr>
          <p:cNvSpPr>
            <a:spLocks noGrp="1"/>
          </p:cNvSpPr>
          <p:nvPr>
            <p:ph type="title"/>
          </p:nvPr>
        </p:nvSpPr>
        <p:spPr>
          <a:xfrm>
            <a:off x="838200" y="0"/>
            <a:ext cx="10515600" cy="1302310"/>
          </a:xfrm>
        </p:spPr>
        <p:txBody>
          <a:bodyPr>
            <a:normAutofit/>
          </a:bodyPr>
          <a:lstStyle/>
          <a:p>
            <a:pPr marL="0" indent="0" algn="ctr">
              <a:buNone/>
            </a:pPr>
            <a:r>
              <a:rPr lang="en-US" sz="4000" b="1" dirty="0">
                <a:latin typeface="Times New Roman" panose="02020603050405020304" pitchFamily="18" charset="0"/>
                <a:cs typeface="Times New Roman" panose="02020603050405020304" pitchFamily="18" charset="0"/>
              </a:rPr>
              <a:t>Ways in which a hash code can be used to provide message authentication</a:t>
            </a:r>
          </a:p>
        </p:txBody>
      </p:sp>
      <p:sp>
        <p:nvSpPr>
          <p:cNvPr id="3" name="Content Placeholder 2">
            <a:extLst>
              <a:ext uri="{FF2B5EF4-FFF2-40B4-BE49-F238E27FC236}">
                <a16:creationId xmlns:a16="http://schemas.microsoft.com/office/drawing/2014/main" id="{ACEA3463-1412-9C64-4B20-76BED73789B7}"/>
              </a:ext>
            </a:extLst>
          </p:cNvPr>
          <p:cNvSpPr>
            <a:spLocks noGrp="1"/>
          </p:cNvSpPr>
          <p:nvPr>
            <p:ph idx="1"/>
          </p:nvPr>
        </p:nvSpPr>
        <p:spPr>
          <a:xfrm>
            <a:off x="838200" y="1869140"/>
            <a:ext cx="10515600" cy="4558553"/>
          </a:xfrm>
        </p:spPr>
        <p:txBody>
          <a:bodyPr>
            <a:noAutofit/>
          </a:bodyPr>
          <a:lstStyle/>
          <a:p>
            <a:pPr algn="just">
              <a:lnSpc>
                <a:spcPct val="100000"/>
              </a:lnSpc>
            </a:pPr>
            <a:r>
              <a:rPr lang="en-US" sz="3600" dirty="0">
                <a:latin typeface="Times New Roman" panose="02020603050405020304" pitchFamily="18" charset="0"/>
                <a:cs typeface="Times New Roman" panose="02020603050405020304" pitchFamily="18" charset="0"/>
              </a:rPr>
              <a:t> When confidentiality is not required, method (b) has an advantage over methods (a) and (d), which encrypts the entire message, in that less computation is required.</a:t>
            </a:r>
          </a:p>
          <a:p>
            <a:pPr marL="0" indent="0" algn="just">
              <a:lnSpc>
                <a:spcPct val="100000"/>
              </a:lnSpc>
              <a:buNone/>
            </a:pPr>
            <a:endParaRPr lang="en-US" sz="3600" dirty="0">
              <a:latin typeface="Times New Roman" panose="02020603050405020304" pitchFamily="18" charset="0"/>
              <a:cs typeface="Times New Roman" panose="02020603050405020304" pitchFamily="18" charset="0"/>
            </a:endParaRPr>
          </a:p>
          <a:p>
            <a:pPr algn="just">
              <a:lnSpc>
                <a:spcPct val="100000"/>
              </a:lnSpc>
            </a:pPr>
            <a:r>
              <a:rPr lang="en-US" sz="3600" dirty="0">
                <a:latin typeface="Times New Roman" panose="02020603050405020304" pitchFamily="18" charset="0"/>
                <a:cs typeface="Times New Roman" panose="02020603050405020304" pitchFamily="18" charset="0"/>
              </a:rPr>
              <a:t> However, there has been growing interest in techniques that avoid encryption.</a:t>
            </a:r>
          </a:p>
        </p:txBody>
      </p:sp>
    </p:spTree>
    <p:extLst>
      <p:ext uri="{BB962C8B-B14F-4D97-AF65-F5344CB8AC3E}">
        <p14:creationId xmlns:p14="http://schemas.microsoft.com/office/powerpoint/2010/main" val="4016422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5AE5F-FB48-B0B2-1404-2781C31BCE9F}"/>
              </a:ext>
            </a:extLst>
          </p:cNvPr>
          <p:cNvSpPr>
            <a:spLocks noGrp="1"/>
          </p:cNvSpPr>
          <p:nvPr>
            <p:ph type="title"/>
          </p:nvPr>
        </p:nvSpPr>
        <p:spPr>
          <a:xfrm>
            <a:off x="838200" y="96185"/>
            <a:ext cx="10515600" cy="872004"/>
          </a:xfrm>
        </p:spPr>
        <p:txBody>
          <a:bodyPr/>
          <a:lstStyle/>
          <a:p>
            <a:pPr algn="ctr"/>
            <a:r>
              <a:rPr lang="en-US" b="1" dirty="0">
                <a:latin typeface="Times New Roman" panose="02020603050405020304" pitchFamily="18" charset="0"/>
                <a:cs typeface="Times New Roman" panose="02020603050405020304" pitchFamily="18" charset="0"/>
              </a:rPr>
              <a:t>Reasons to avoid encryption</a:t>
            </a:r>
          </a:p>
        </p:txBody>
      </p:sp>
      <p:sp>
        <p:nvSpPr>
          <p:cNvPr id="3" name="Content Placeholder 2">
            <a:extLst>
              <a:ext uri="{FF2B5EF4-FFF2-40B4-BE49-F238E27FC236}">
                <a16:creationId xmlns:a16="http://schemas.microsoft.com/office/drawing/2014/main" id="{0472C6AC-2BEA-1D6D-8A9C-6A1F6B67B8BA}"/>
              </a:ext>
            </a:extLst>
          </p:cNvPr>
          <p:cNvSpPr>
            <a:spLocks noGrp="1"/>
          </p:cNvSpPr>
          <p:nvPr>
            <p:ph idx="1"/>
          </p:nvPr>
        </p:nvSpPr>
        <p:spPr>
          <a:xfrm>
            <a:off x="838200" y="1075764"/>
            <a:ext cx="10515600" cy="5453623"/>
          </a:xfrm>
        </p:spPr>
        <p:txBody>
          <a:bodyPr>
            <a:normAutofit lnSpcReduction="10000"/>
          </a:bodyPr>
          <a:lstStyle/>
          <a:p>
            <a:pPr algn="just">
              <a:lnSpc>
                <a:spcPct val="110000"/>
              </a:lnSpc>
            </a:pPr>
            <a:r>
              <a:rPr lang="en-US" sz="3600" dirty="0">
                <a:latin typeface="Times New Roman" panose="02020603050405020304" pitchFamily="18" charset="0"/>
                <a:cs typeface="Times New Roman" panose="02020603050405020304" pitchFamily="18" charset="0"/>
              </a:rPr>
              <a:t> Encryption software is relatively slow. Even though the amount of data to be encrypted per message is small, there may be a steady stream of messages into and out of a system.</a:t>
            </a:r>
          </a:p>
          <a:p>
            <a:pPr algn="just">
              <a:lnSpc>
                <a:spcPct val="110000"/>
              </a:lnSpc>
            </a:pPr>
            <a:endParaRPr lang="en-US" sz="3600" dirty="0">
              <a:latin typeface="Times New Roman" panose="02020603050405020304" pitchFamily="18" charset="0"/>
              <a:cs typeface="Times New Roman" panose="02020603050405020304" pitchFamily="18" charset="0"/>
            </a:endParaRPr>
          </a:p>
          <a:p>
            <a:pPr algn="just">
              <a:lnSpc>
                <a:spcPct val="110000"/>
              </a:lnSpc>
            </a:pPr>
            <a:r>
              <a:rPr lang="en-US" sz="3600" dirty="0">
                <a:latin typeface="Times New Roman" panose="02020603050405020304" pitchFamily="18" charset="0"/>
                <a:cs typeface="Times New Roman" panose="02020603050405020304" pitchFamily="18" charset="0"/>
              </a:rPr>
              <a:t> Encryption hardware costs are not negligible. Low-cost chip implementations of DES are available, but the cost adds up if all nodes in a network must have this capability.</a:t>
            </a:r>
          </a:p>
        </p:txBody>
      </p:sp>
    </p:spTree>
    <p:extLst>
      <p:ext uri="{BB962C8B-B14F-4D97-AF65-F5344CB8AC3E}">
        <p14:creationId xmlns:p14="http://schemas.microsoft.com/office/powerpoint/2010/main" val="2089924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5AE5F-FB48-B0B2-1404-2781C31BCE9F}"/>
              </a:ext>
            </a:extLst>
          </p:cNvPr>
          <p:cNvSpPr>
            <a:spLocks noGrp="1"/>
          </p:cNvSpPr>
          <p:nvPr>
            <p:ph type="title"/>
          </p:nvPr>
        </p:nvSpPr>
        <p:spPr>
          <a:xfrm>
            <a:off x="838200" y="136526"/>
            <a:ext cx="10515600" cy="888206"/>
          </a:xfrm>
        </p:spPr>
        <p:txBody>
          <a:bodyPr>
            <a:normAutofit/>
          </a:bodyPr>
          <a:lstStyle/>
          <a:p>
            <a:pPr algn="ctr"/>
            <a:r>
              <a:rPr lang="en-US" sz="4800" b="1" dirty="0" err="1">
                <a:latin typeface="Times New Roman" panose="02020603050405020304" pitchFamily="18" charset="0"/>
                <a:cs typeface="Times New Roman" panose="02020603050405020304" pitchFamily="18" charset="0"/>
              </a:rPr>
              <a:t>Cont</a:t>
            </a:r>
            <a:r>
              <a:rPr lang="en-US" sz="48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0472C6AC-2BEA-1D6D-8A9C-6A1F6B67B8BA}"/>
              </a:ext>
            </a:extLst>
          </p:cNvPr>
          <p:cNvSpPr>
            <a:spLocks noGrp="1"/>
          </p:cNvSpPr>
          <p:nvPr>
            <p:ph idx="1"/>
          </p:nvPr>
        </p:nvSpPr>
        <p:spPr>
          <a:xfrm>
            <a:off x="838200" y="1024732"/>
            <a:ext cx="10515600" cy="5547517"/>
          </a:xfrm>
        </p:spPr>
        <p:txBody>
          <a:bodyPr>
            <a:noAutofit/>
          </a:bodyPr>
          <a:lstStyle/>
          <a:p>
            <a:pPr algn="just">
              <a:lnSpc>
                <a:spcPct val="100000"/>
              </a:lnSpc>
            </a:pPr>
            <a:r>
              <a:rPr lang="en-US" sz="4000" dirty="0">
                <a:latin typeface="Times New Roman" panose="02020603050405020304" pitchFamily="18" charset="0"/>
                <a:cs typeface="Times New Roman" panose="02020603050405020304" pitchFamily="18" charset="0"/>
              </a:rPr>
              <a:t> Encryption hardware is optimized toward large data sizes. For small blocks of data, a high proportion of the time is spent in initialization / invocation overhead.</a:t>
            </a:r>
          </a:p>
          <a:p>
            <a:pPr marL="0" indent="0" algn="just">
              <a:lnSpc>
                <a:spcPct val="100000"/>
              </a:lnSpc>
              <a:buNone/>
            </a:pPr>
            <a:endParaRPr lang="en-US" sz="4000" dirty="0">
              <a:latin typeface="Times New Roman" panose="02020603050405020304" pitchFamily="18" charset="0"/>
              <a:cs typeface="Times New Roman" panose="02020603050405020304" pitchFamily="18" charset="0"/>
            </a:endParaRPr>
          </a:p>
          <a:p>
            <a:pPr algn="just">
              <a:lnSpc>
                <a:spcPct val="100000"/>
              </a:lnSpc>
            </a:pPr>
            <a:r>
              <a:rPr lang="en-US" sz="4000" dirty="0">
                <a:latin typeface="Times New Roman" panose="02020603050405020304" pitchFamily="18" charset="0"/>
                <a:cs typeface="Times New Roman" panose="02020603050405020304" pitchFamily="18" charset="0"/>
              </a:rPr>
              <a:t> Encryption algorithms may be covered by patents, and there is a cost associated with licensing their use.</a:t>
            </a:r>
          </a:p>
        </p:txBody>
      </p:sp>
    </p:spTree>
    <p:extLst>
      <p:ext uri="{BB962C8B-B14F-4D97-AF65-F5344CB8AC3E}">
        <p14:creationId xmlns:p14="http://schemas.microsoft.com/office/powerpoint/2010/main" val="3142579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0ACC5-14A3-3CEA-98E3-46470AD4D871}"/>
              </a:ext>
            </a:extLst>
          </p:cNvPr>
          <p:cNvSpPr>
            <a:spLocks noGrp="1"/>
          </p:cNvSpPr>
          <p:nvPr>
            <p:ph type="title"/>
          </p:nvPr>
        </p:nvSpPr>
        <p:spPr>
          <a:xfrm>
            <a:off x="838200" y="0"/>
            <a:ext cx="10515600" cy="1042988"/>
          </a:xfrm>
        </p:spPr>
        <p:txBody>
          <a:bodyPr>
            <a:normAutofit/>
          </a:bodyPr>
          <a:lstStyle/>
          <a:p>
            <a:pPr algn="ctr"/>
            <a:r>
              <a:rPr lang="en-US" sz="4800" b="1" dirty="0">
                <a:latin typeface="Times New Roman" panose="02020603050405020304" pitchFamily="18" charset="0"/>
                <a:cs typeface="Times New Roman" panose="02020603050405020304" pitchFamily="18" charset="0"/>
              </a:rPr>
              <a:t>Message Authentication</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ECE4D-6900-7AE9-990C-8B8194488978}"/>
              </a:ext>
            </a:extLst>
          </p:cNvPr>
          <p:cNvSpPr>
            <a:spLocks noGrp="1"/>
          </p:cNvSpPr>
          <p:nvPr>
            <p:ph idx="1"/>
          </p:nvPr>
        </p:nvSpPr>
        <p:spPr>
          <a:xfrm>
            <a:off x="838200" y="1825625"/>
            <a:ext cx="10336306" cy="4351338"/>
          </a:xfrm>
        </p:spPr>
        <p:txBody>
          <a:bodyPr>
            <a:normAutofit/>
          </a:bodyPr>
          <a:lstStyle/>
          <a:p>
            <a:pPr algn="just"/>
            <a:r>
              <a:rPr lang="en-US" sz="3600" dirty="0">
                <a:latin typeface="Times New Roman" panose="02020603050405020304" pitchFamily="18" charset="0"/>
                <a:cs typeface="Times New Roman" panose="02020603050405020304" pitchFamily="18" charset="0"/>
              </a:rPr>
              <a:t>More commonly, message authentication is achieved using a Message Authentication Code (MAC), also known as a keyed hash function. </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Typically, MACs are used between two parties that share a secret key to authenticate information exchanged between those parties.</a:t>
            </a:r>
          </a:p>
        </p:txBody>
      </p:sp>
    </p:spTree>
    <p:extLst>
      <p:ext uri="{BB962C8B-B14F-4D97-AF65-F5344CB8AC3E}">
        <p14:creationId xmlns:p14="http://schemas.microsoft.com/office/powerpoint/2010/main" val="2965417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2B9D-5BD9-0D47-689E-8C1B1405204C}"/>
              </a:ext>
            </a:extLst>
          </p:cNvPr>
          <p:cNvSpPr>
            <a:spLocks noGrp="1"/>
          </p:cNvSpPr>
          <p:nvPr>
            <p:ph type="title"/>
          </p:nvPr>
        </p:nvSpPr>
        <p:spPr>
          <a:xfrm>
            <a:off x="717176" y="136525"/>
            <a:ext cx="10515600" cy="831663"/>
          </a:xfrm>
        </p:spPr>
        <p:txBody>
          <a:bodyPr/>
          <a:lstStyle/>
          <a:p>
            <a:pPr algn="ctr"/>
            <a:r>
              <a:rPr lang="en-US" b="1" dirty="0">
                <a:latin typeface="Times New Roman" panose="02020603050405020304" pitchFamily="18" charset="0"/>
                <a:cs typeface="Times New Roman" panose="02020603050405020304" pitchFamily="18" charset="0"/>
              </a:rPr>
              <a:t>Digital signature</a:t>
            </a:r>
          </a:p>
        </p:txBody>
      </p:sp>
      <p:sp>
        <p:nvSpPr>
          <p:cNvPr id="3" name="Content Placeholder 2">
            <a:extLst>
              <a:ext uri="{FF2B5EF4-FFF2-40B4-BE49-F238E27FC236}">
                <a16:creationId xmlns:a16="http://schemas.microsoft.com/office/drawing/2014/main" id="{E34208C3-1750-8FAB-C62E-BED0AAF1E21E}"/>
              </a:ext>
            </a:extLst>
          </p:cNvPr>
          <p:cNvSpPr>
            <a:spLocks noGrp="1"/>
          </p:cNvSpPr>
          <p:nvPr>
            <p:ph idx="1"/>
          </p:nvPr>
        </p:nvSpPr>
        <p:spPr>
          <a:xfrm>
            <a:off x="959223" y="1140945"/>
            <a:ext cx="10273553" cy="5580530"/>
          </a:xfrm>
        </p:spPr>
        <p:txBody>
          <a:bodyPr>
            <a:normAutofit/>
          </a:bodyPr>
          <a:lstStyle/>
          <a:p>
            <a:pPr algn="just">
              <a:lnSpc>
                <a:spcPct val="100000"/>
              </a:lnSpc>
            </a:pPr>
            <a:r>
              <a:rPr lang="en-US" sz="3200" dirty="0">
                <a:latin typeface="Times New Roman" panose="02020603050405020304" pitchFamily="18" charset="0"/>
                <a:cs typeface="Times New Roman" panose="02020603050405020304" pitchFamily="18" charset="0"/>
              </a:rPr>
              <a:t> In a digital signature, the hash value of a message is encrypted with a user’s private key.</a:t>
            </a:r>
          </a:p>
          <a:p>
            <a:pPr algn="just">
              <a:lnSpc>
                <a:spcPct val="100000"/>
              </a:lnSpc>
            </a:pPr>
            <a:endParaRPr lang="en-US" sz="3200" dirty="0">
              <a:latin typeface="Times New Roman" panose="02020603050405020304" pitchFamily="18" charset="0"/>
              <a:cs typeface="Times New Roman" panose="02020603050405020304" pitchFamily="18" charset="0"/>
            </a:endParaRPr>
          </a:p>
          <a:p>
            <a:pPr algn="just">
              <a:lnSpc>
                <a:spcPct val="100000"/>
              </a:lnSpc>
            </a:pPr>
            <a:r>
              <a:rPr lang="en-US" sz="3200" dirty="0">
                <a:latin typeface="Times New Roman" panose="02020603050405020304" pitchFamily="18" charset="0"/>
                <a:cs typeface="Times New Roman" panose="02020603050405020304" pitchFamily="18" charset="0"/>
              </a:rPr>
              <a:t>Anyone who knows the user’s public key can verify the integrity of the message that is associated with the digital signature. </a:t>
            </a:r>
          </a:p>
          <a:p>
            <a:pPr algn="just">
              <a:lnSpc>
                <a:spcPct val="100000"/>
              </a:lnSpc>
            </a:pPr>
            <a:endParaRPr lang="en-US" sz="3200" dirty="0">
              <a:latin typeface="Times New Roman" panose="02020603050405020304" pitchFamily="18" charset="0"/>
              <a:cs typeface="Times New Roman" panose="02020603050405020304" pitchFamily="18" charset="0"/>
            </a:endParaRPr>
          </a:p>
          <a:p>
            <a:pPr algn="just">
              <a:lnSpc>
                <a:spcPct val="100000"/>
              </a:lnSpc>
            </a:pPr>
            <a:r>
              <a:rPr lang="en-US" sz="3200" dirty="0">
                <a:latin typeface="Times New Roman" panose="02020603050405020304" pitchFamily="18" charset="0"/>
                <a:cs typeface="Times New Roman" panose="02020603050405020304" pitchFamily="18" charset="0"/>
              </a:rPr>
              <a:t>In this case, an attacker who wishes to alter the message would need to know the user’s private key.</a:t>
            </a:r>
          </a:p>
        </p:txBody>
      </p:sp>
    </p:spTree>
    <p:extLst>
      <p:ext uri="{BB962C8B-B14F-4D97-AF65-F5344CB8AC3E}">
        <p14:creationId xmlns:p14="http://schemas.microsoft.com/office/powerpoint/2010/main" val="3819922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2B9D-5BD9-0D47-689E-8C1B1405204C}"/>
              </a:ext>
            </a:extLst>
          </p:cNvPr>
          <p:cNvSpPr>
            <a:spLocks noGrp="1"/>
          </p:cNvSpPr>
          <p:nvPr>
            <p:ph type="title"/>
          </p:nvPr>
        </p:nvSpPr>
        <p:spPr>
          <a:xfrm>
            <a:off x="717176" y="0"/>
            <a:ext cx="10515600" cy="1179294"/>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How a hash code is used to provide a digital signature</a:t>
            </a:r>
          </a:p>
        </p:txBody>
      </p:sp>
      <p:sp>
        <p:nvSpPr>
          <p:cNvPr id="3" name="Content Placeholder 2">
            <a:extLst>
              <a:ext uri="{FF2B5EF4-FFF2-40B4-BE49-F238E27FC236}">
                <a16:creationId xmlns:a16="http://schemas.microsoft.com/office/drawing/2014/main" id="{E34208C3-1750-8FAB-C62E-BED0AAF1E21E}"/>
              </a:ext>
            </a:extLst>
          </p:cNvPr>
          <p:cNvSpPr>
            <a:spLocks noGrp="1"/>
          </p:cNvSpPr>
          <p:nvPr>
            <p:ph idx="1"/>
          </p:nvPr>
        </p:nvSpPr>
        <p:spPr>
          <a:xfrm>
            <a:off x="717176" y="1406580"/>
            <a:ext cx="10515600" cy="1179294"/>
          </a:xfrm>
        </p:spPr>
        <p:txBody>
          <a:bodyPr>
            <a:normAutofit/>
          </a:bodyPr>
          <a:lstStyle/>
          <a:p>
            <a:pPr>
              <a:lnSpc>
                <a:spcPct val="100000"/>
              </a:lnSpc>
            </a:pPr>
            <a:r>
              <a:rPr lang="en-US" sz="3200" dirty="0">
                <a:latin typeface="Times New Roman" panose="02020603050405020304" pitchFamily="18" charset="0"/>
                <a:cs typeface="Times New Roman" panose="02020603050405020304" pitchFamily="18" charset="0"/>
              </a:rPr>
              <a:t>The hash code is encrypted, using public-key encryption with the sender’s private key.</a:t>
            </a:r>
          </a:p>
        </p:txBody>
      </p:sp>
      <p:sp>
        <p:nvSpPr>
          <p:cNvPr id="5" name="TextBox 4">
            <a:extLst>
              <a:ext uri="{FF2B5EF4-FFF2-40B4-BE49-F238E27FC236}">
                <a16:creationId xmlns:a16="http://schemas.microsoft.com/office/drawing/2014/main" id="{1F16C57F-7FB2-992A-EB31-AF52EB15E472}"/>
              </a:ext>
            </a:extLst>
          </p:cNvPr>
          <p:cNvSpPr txBox="1"/>
          <p:nvPr/>
        </p:nvSpPr>
        <p:spPr>
          <a:xfrm>
            <a:off x="1160308" y="5451420"/>
            <a:ext cx="10072468" cy="1200329"/>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It also provides a digital signature, because only the sender could have produced the encrypted hash code. In fact, this is the essence of the digital signature technique.</a:t>
            </a:r>
          </a:p>
        </p:txBody>
      </p:sp>
      <p:pic>
        <p:nvPicPr>
          <p:cNvPr id="7" name="Picture 6">
            <a:extLst>
              <a:ext uri="{FF2B5EF4-FFF2-40B4-BE49-F238E27FC236}">
                <a16:creationId xmlns:a16="http://schemas.microsoft.com/office/drawing/2014/main" id="{189C4A52-E9E8-8808-3AEB-FE07AE0DE0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569" y="2585874"/>
            <a:ext cx="8724861" cy="2609304"/>
          </a:xfrm>
          <a:prstGeom prst="rect">
            <a:avLst/>
          </a:prstGeom>
        </p:spPr>
      </p:pic>
    </p:spTree>
    <p:extLst>
      <p:ext uri="{BB962C8B-B14F-4D97-AF65-F5344CB8AC3E}">
        <p14:creationId xmlns:p14="http://schemas.microsoft.com/office/powerpoint/2010/main" val="1984345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2B9D-5BD9-0D47-689E-8C1B1405204C}"/>
              </a:ext>
            </a:extLst>
          </p:cNvPr>
          <p:cNvSpPr>
            <a:spLocks noGrp="1"/>
          </p:cNvSpPr>
          <p:nvPr>
            <p:ph type="title"/>
          </p:nvPr>
        </p:nvSpPr>
        <p:spPr>
          <a:xfrm>
            <a:off x="838200" y="107933"/>
            <a:ext cx="10515600" cy="96808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How a hash code is used to provide a digital signature</a:t>
            </a:r>
          </a:p>
        </p:txBody>
      </p:sp>
      <p:sp>
        <p:nvSpPr>
          <p:cNvPr id="3" name="Content Placeholder 2">
            <a:extLst>
              <a:ext uri="{FF2B5EF4-FFF2-40B4-BE49-F238E27FC236}">
                <a16:creationId xmlns:a16="http://schemas.microsoft.com/office/drawing/2014/main" id="{E34208C3-1750-8FAB-C62E-BED0AAF1E21E}"/>
              </a:ext>
            </a:extLst>
          </p:cNvPr>
          <p:cNvSpPr>
            <a:spLocks noGrp="1"/>
          </p:cNvSpPr>
          <p:nvPr>
            <p:ph idx="1"/>
          </p:nvPr>
        </p:nvSpPr>
        <p:spPr>
          <a:xfrm>
            <a:off x="838200" y="1450820"/>
            <a:ext cx="10515600" cy="1603375"/>
          </a:xfrm>
        </p:spPr>
        <p:txBody>
          <a:bodyPr>
            <a:normAutofit/>
          </a:bodyPr>
          <a:lstStyle/>
          <a:p>
            <a:pPr algn="just">
              <a:lnSpc>
                <a:spcPct val="100000"/>
              </a:lnSpc>
            </a:pPr>
            <a:r>
              <a:rPr lang="en-US" sz="3200" dirty="0">
                <a:latin typeface="Times New Roman" panose="02020603050405020304" pitchFamily="18" charset="0"/>
                <a:cs typeface="Times New Roman" panose="02020603050405020304" pitchFamily="18" charset="0"/>
              </a:rPr>
              <a:t>If confidentiality as well as a digital signature is desired, then the message plus the private-key-encrypted hash code can be encrypted using a symmetric secret key.</a:t>
            </a:r>
          </a:p>
        </p:txBody>
      </p:sp>
      <p:pic>
        <p:nvPicPr>
          <p:cNvPr id="6" name="Picture 5">
            <a:extLst>
              <a:ext uri="{FF2B5EF4-FFF2-40B4-BE49-F238E27FC236}">
                <a16:creationId xmlns:a16="http://schemas.microsoft.com/office/drawing/2014/main" id="{5F1F604A-953A-7211-47E7-9F85B2A9D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861" y="3708568"/>
            <a:ext cx="9326277" cy="2095792"/>
          </a:xfrm>
          <a:prstGeom prst="rect">
            <a:avLst/>
          </a:prstGeom>
        </p:spPr>
      </p:pic>
      <p:sp>
        <p:nvSpPr>
          <p:cNvPr id="9" name="TextBox 8">
            <a:extLst>
              <a:ext uri="{FF2B5EF4-FFF2-40B4-BE49-F238E27FC236}">
                <a16:creationId xmlns:a16="http://schemas.microsoft.com/office/drawing/2014/main" id="{B2A01E62-232A-C0A1-5E57-E7CAFCC9F804}"/>
              </a:ext>
            </a:extLst>
          </p:cNvPr>
          <p:cNvSpPr txBox="1"/>
          <p:nvPr/>
        </p:nvSpPr>
        <p:spPr>
          <a:xfrm>
            <a:off x="3046827" y="6100195"/>
            <a:ext cx="6098344" cy="461665"/>
          </a:xfrm>
          <a:prstGeom prst="rect">
            <a:avLst/>
          </a:prstGeom>
          <a:noFill/>
        </p:spPr>
        <p:txBody>
          <a:bodyPr wrap="square">
            <a:spAutoFit/>
          </a:bodyPr>
          <a:lstStyle/>
          <a:p>
            <a:pPr algn="ctr"/>
            <a:r>
              <a:rPr lang="en-US" sz="2400" dirty="0"/>
              <a:t>This is a common technique</a:t>
            </a:r>
          </a:p>
        </p:txBody>
      </p:sp>
    </p:spTree>
    <p:extLst>
      <p:ext uri="{BB962C8B-B14F-4D97-AF65-F5344CB8AC3E}">
        <p14:creationId xmlns:p14="http://schemas.microsoft.com/office/powerpoint/2010/main" val="2645163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72E7-9C2E-9EB7-D305-F8CEBF8DD28B}"/>
              </a:ext>
            </a:extLst>
          </p:cNvPr>
          <p:cNvSpPr>
            <a:spLocks noGrp="1"/>
          </p:cNvSpPr>
          <p:nvPr>
            <p:ph type="title"/>
          </p:nvPr>
        </p:nvSpPr>
        <p:spPr>
          <a:xfrm>
            <a:off x="703729" y="0"/>
            <a:ext cx="10515600" cy="993028"/>
          </a:xfrm>
        </p:spPr>
        <p:txBody>
          <a:bodyPr/>
          <a:lstStyle/>
          <a:p>
            <a:pPr algn="ctr"/>
            <a:r>
              <a:rPr lang="en-US" b="1" dirty="0">
                <a:latin typeface="Times New Roman" panose="02020603050405020304" pitchFamily="18" charset="0"/>
                <a:cs typeface="Times New Roman" panose="02020603050405020304" pitchFamily="18" charset="0"/>
              </a:rPr>
              <a:t>Requirements and Security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AEB317-CAD9-0268-EE94-B1E1CF1AD81E}"/>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For a hash value h = H(x), we say that x is the </a:t>
            </a:r>
            <a:r>
              <a:rPr lang="en-US" sz="3200" b="1" dirty="0">
                <a:latin typeface="Times New Roman" panose="02020603050405020304" pitchFamily="18" charset="0"/>
                <a:cs typeface="Times New Roman" panose="02020603050405020304" pitchFamily="18" charset="0"/>
              </a:rPr>
              <a:t>preimage</a:t>
            </a:r>
            <a:r>
              <a:rPr lang="en-US" sz="3200" dirty="0">
                <a:latin typeface="Times New Roman" panose="02020603050405020304" pitchFamily="18" charset="0"/>
                <a:cs typeface="Times New Roman" panose="02020603050405020304" pitchFamily="18" charset="0"/>
              </a:rPr>
              <a:t> of h. That is, x is a data block whose hash value, using the function H, is h. </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Because H is a many-to-one mapping, for any given hash value h, there will in general be multiple preimages.</a:t>
            </a:r>
          </a:p>
          <a:p>
            <a:pPr marL="0" indent="0" algn="just">
              <a:buNone/>
            </a:pPr>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A </a:t>
            </a:r>
            <a:r>
              <a:rPr lang="en-US" sz="3200" b="1" dirty="0">
                <a:latin typeface="Times New Roman" panose="02020603050405020304" pitchFamily="18" charset="0"/>
                <a:cs typeface="Times New Roman" panose="02020603050405020304" pitchFamily="18" charset="0"/>
              </a:rPr>
              <a:t>collision</a:t>
            </a:r>
            <a:r>
              <a:rPr lang="en-US" sz="3200" dirty="0">
                <a:latin typeface="Times New Roman" panose="02020603050405020304" pitchFamily="18" charset="0"/>
                <a:cs typeface="Times New Roman" panose="02020603050405020304" pitchFamily="18" charset="0"/>
              </a:rPr>
              <a:t> occurs if we have x ≠ y and H(x) = H(y). </a:t>
            </a:r>
          </a:p>
        </p:txBody>
      </p:sp>
    </p:spTree>
    <p:extLst>
      <p:ext uri="{BB962C8B-B14F-4D97-AF65-F5344CB8AC3E}">
        <p14:creationId xmlns:p14="http://schemas.microsoft.com/office/powerpoint/2010/main" val="4194640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82CA-3C87-566E-153B-0B391FE7BFA6}"/>
              </a:ext>
            </a:extLst>
          </p:cNvPr>
          <p:cNvSpPr>
            <a:spLocks noGrp="1"/>
          </p:cNvSpPr>
          <p:nvPr>
            <p:ph type="title"/>
          </p:nvPr>
        </p:nvSpPr>
        <p:spPr>
          <a:xfrm>
            <a:off x="703730" y="96184"/>
            <a:ext cx="10515600" cy="116784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Requirements for a Cryptographic Hash Function</a:t>
            </a:r>
          </a:p>
        </p:txBody>
      </p:sp>
      <p:pic>
        <p:nvPicPr>
          <p:cNvPr id="5" name="Content Placeholder 4">
            <a:extLst>
              <a:ext uri="{FF2B5EF4-FFF2-40B4-BE49-F238E27FC236}">
                <a16:creationId xmlns:a16="http://schemas.microsoft.com/office/drawing/2014/main" id="{D1C2D8F9-55DE-9670-29C5-719964417A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9739" y="1690688"/>
            <a:ext cx="9513980" cy="4802187"/>
          </a:xfrm>
        </p:spPr>
      </p:pic>
    </p:spTree>
    <p:extLst>
      <p:ext uri="{BB962C8B-B14F-4D97-AF65-F5344CB8AC3E}">
        <p14:creationId xmlns:p14="http://schemas.microsoft.com/office/powerpoint/2010/main" val="4098881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C5123-54D7-A11B-BCB0-09025698E4A3}"/>
              </a:ext>
            </a:extLst>
          </p:cNvPr>
          <p:cNvSpPr>
            <a:spLocks noGrp="1"/>
          </p:cNvSpPr>
          <p:nvPr>
            <p:ph type="title"/>
          </p:nvPr>
        </p:nvSpPr>
        <p:spPr>
          <a:xfrm>
            <a:off x="717176" y="150905"/>
            <a:ext cx="10515600" cy="1060263"/>
          </a:xfrm>
        </p:spPr>
        <p:txBody>
          <a:bodyPr/>
          <a:lstStyle/>
          <a:p>
            <a:pPr algn="ctr"/>
            <a:r>
              <a:rPr lang="en-US" b="1" dirty="0">
                <a:latin typeface="Times New Roman" panose="02020603050405020304" pitchFamily="18" charset="0"/>
                <a:cs typeface="Times New Roman" panose="02020603050405020304" pitchFamily="18" charset="0"/>
              </a:rPr>
              <a:t>Categories of attacks on hash functions</a:t>
            </a:r>
          </a:p>
        </p:txBody>
      </p:sp>
      <p:sp>
        <p:nvSpPr>
          <p:cNvPr id="3" name="Content Placeholder 2">
            <a:extLst>
              <a:ext uri="{FF2B5EF4-FFF2-40B4-BE49-F238E27FC236}">
                <a16:creationId xmlns:a16="http://schemas.microsoft.com/office/drawing/2014/main" id="{2CEE6F6B-4DBA-AC94-DB83-9301D4E77C3B}"/>
              </a:ext>
            </a:extLst>
          </p:cNvPr>
          <p:cNvSpPr>
            <a:spLocks noGrp="1"/>
          </p:cNvSpPr>
          <p:nvPr>
            <p:ph idx="1"/>
          </p:nvPr>
        </p:nvSpPr>
        <p:spPr>
          <a:xfrm>
            <a:off x="838200" y="1211168"/>
            <a:ext cx="10515600" cy="5495927"/>
          </a:xfrm>
        </p:spPr>
        <p:txBody>
          <a:bodyPr>
            <a:normAutofit/>
          </a:bodyPr>
          <a:lstStyle/>
          <a:p>
            <a:pPr algn="just">
              <a:lnSpc>
                <a:spcPct val="110000"/>
              </a:lnSpc>
            </a:pPr>
            <a:r>
              <a:rPr lang="en-US" sz="3200" dirty="0">
                <a:latin typeface="Times New Roman" panose="02020603050405020304" pitchFamily="18" charset="0"/>
                <a:cs typeface="Times New Roman" panose="02020603050405020304" pitchFamily="18" charset="0"/>
              </a:rPr>
              <a:t>As with encryption algorithms, there are two categories of attacks on hash functions: brute-force attacks and cryptanalysis.</a:t>
            </a:r>
          </a:p>
          <a:p>
            <a:pPr algn="just">
              <a:lnSpc>
                <a:spcPct val="110000"/>
              </a:lnSpc>
            </a:pPr>
            <a:endParaRPr lang="en-US" sz="3200" dirty="0">
              <a:latin typeface="Times New Roman" panose="02020603050405020304" pitchFamily="18" charset="0"/>
              <a:cs typeface="Times New Roman" panose="02020603050405020304" pitchFamily="18" charset="0"/>
            </a:endParaRPr>
          </a:p>
          <a:p>
            <a:pPr algn="just">
              <a:lnSpc>
                <a:spcPct val="110000"/>
              </a:lnSpc>
            </a:pPr>
            <a:r>
              <a:rPr lang="en-US" sz="3200" dirty="0">
                <a:latin typeface="Times New Roman" panose="02020603050405020304" pitchFamily="18" charset="0"/>
                <a:cs typeface="Times New Roman" panose="02020603050405020304" pitchFamily="18" charset="0"/>
              </a:rPr>
              <a:t>A brute-force attack does not depend on the specific algorithm but depends only on bit length.</a:t>
            </a:r>
          </a:p>
          <a:p>
            <a:pPr algn="just">
              <a:lnSpc>
                <a:spcPct val="110000"/>
              </a:lnSpc>
            </a:pPr>
            <a:endParaRPr lang="en-US" sz="3200" dirty="0">
              <a:latin typeface="Times New Roman" panose="02020603050405020304" pitchFamily="18" charset="0"/>
              <a:cs typeface="Times New Roman" panose="02020603050405020304" pitchFamily="18" charset="0"/>
            </a:endParaRPr>
          </a:p>
          <a:p>
            <a:pPr algn="just">
              <a:lnSpc>
                <a:spcPct val="110000"/>
              </a:lnSpc>
            </a:pPr>
            <a:r>
              <a:rPr lang="en-US" sz="3200" dirty="0">
                <a:latin typeface="Times New Roman" panose="02020603050405020304" pitchFamily="18" charset="0"/>
                <a:cs typeface="Times New Roman" panose="02020603050405020304" pitchFamily="18" charset="0"/>
              </a:rPr>
              <a:t>A cryptanalysis, in contrast, is an attack based on weaknesses in a particular cryptographic algorithm.</a:t>
            </a:r>
          </a:p>
        </p:txBody>
      </p:sp>
    </p:spTree>
    <p:extLst>
      <p:ext uri="{BB962C8B-B14F-4D97-AF65-F5344CB8AC3E}">
        <p14:creationId xmlns:p14="http://schemas.microsoft.com/office/powerpoint/2010/main" val="3974251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C238-1CD9-6A89-122D-C80817DAA69B}"/>
              </a:ext>
            </a:extLst>
          </p:cNvPr>
          <p:cNvSpPr>
            <a:spLocks noGrp="1"/>
          </p:cNvSpPr>
          <p:nvPr>
            <p:ph type="title"/>
          </p:nvPr>
        </p:nvSpPr>
        <p:spPr>
          <a:xfrm>
            <a:off x="838200" y="0"/>
            <a:ext cx="10515600" cy="966134"/>
          </a:xfrm>
        </p:spPr>
        <p:txBody>
          <a:bodyPr>
            <a:normAutofit/>
          </a:bodyPr>
          <a:lstStyle/>
          <a:p>
            <a:pPr algn="ctr"/>
            <a:r>
              <a:rPr lang="en-US" sz="5400" b="1" dirty="0">
                <a:latin typeface="Times New Roman" panose="02020603050405020304" pitchFamily="18" charset="0"/>
                <a:cs typeface="Times New Roman" panose="02020603050405020304" pitchFamily="18" charset="0"/>
              </a:rPr>
              <a:t>Brute-force</a:t>
            </a:r>
          </a:p>
        </p:txBody>
      </p:sp>
      <p:sp>
        <p:nvSpPr>
          <p:cNvPr id="3" name="Content Placeholder 2">
            <a:extLst>
              <a:ext uri="{FF2B5EF4-FFF2-40B4-BE49-F238E27FC236}">
                <a16:creationId xmlns:a16="http://schemas.microsoft.com/office/drawing/2014/main" id="{D1C481A0-DE12-EF2B-0BED-54C4F27A6936}"/>
              </a:ext>
            </a:extLst>
          </p:cNvPr>
          <p:cNvSpPr>
            <a:spLocks noGrp="1"/>
          </p:cNvSpPr>
          <p:nvPr>
            <p:ph idx="1"/>
          </p:nvPr>
        </p:nvSpPr>
        <p:spPr>
          <a:xfrm>
            <a:off x="838200" y="966133"/>
            <a:ext cx="10515600" cy="5703607"/>
          </a:xfrm>
        </p:spPr>
        <p:txBody>
          <a:bodyPr>
            <a:normAutofit/>
          </a:bodyPr>
          <a:lstStyle/>
          <a:p>
            <a:pPr algn="just"/>
            <a:r>
              <a:rPr lang="en-US" sz="3200" dirty="0">
                <a:latin typeface="Times New Roman" panose="02020603050405020304" pitchFamily="18" charset="0"/>
                <a:cs typeface="Times New Roman" panose="02020603050405020304" pitchFamily="18" charset="0"/>
              </a:rPr>
              <a:t>PREIMAGE AND SECOND PREIMAGE ATTACKS </a:t>
            </a:r>
          </a:p>
          <a:p>
            <a:pPr algn="just"/>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For a preimage or second preimage attack, an adversary wishes to find a value y such that H(y) is equal to a given hash value h. The brute-force method is to pick values of y at random and try each value until a collision occurs.</a:t>
            </a:r>
          </a:p>
          <a:p>
            <a:pPr lvl="1" algn="just"/>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For an m-bit hash value, the level of effort is proportional to 2m. Specifically, the adversary would have to try, on average, 2m-1 values of y to find one that generates a given hash value h.</a:t>
            </a:r>
          </a:p>
        </p:txBody>
      </p:sp>
    </p:spTree>
    <p:extLst>
      <p:ext uri="{BB962C8B-B14F-4D97-AF65-F5344CB8AC3E}">
        <p14:creationId xmlns:p14="http://schemas.microsoft.com/office/powerpoint/2010/main" val="4008242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C238-1CD9-6A89-122D-C80817DAA69B}"/>
              </a:ext>
            </a:extLst>
          </p:cNvPr>
          <p:cNvSpPr>
            <a:spLocks noGrp="1"/>
          </p:cNvSpPr>
          <p:nvPr>
            <p:ph type="title"/>
          </p:nvPr>
        </p:nvSpPr>
        <p:spPr>
          <a:xfrm>
            <a:off x="838200" y="123078"/>
            <a:ext cx="10515600" cy="872004"/>
          </a:xfrm>
        </p:spPr>
        <p:txBody>
          <a:bodyPr>
            <a:normAutofit/>
          </a:bodyPr>
          <a:lstStyle/>
          <a:p>
            <a:pPr algn="ctr"/>
            <a:r>
              <a:rPr lang="en-US" sz="4800" b="1" dirty="0">
                <a:latin typeface="Times New Roman" panose="02020603050405020304" pitchFamily="18" charset="0"/>
                <a:cs typeface="Times New Roman" panose="02020603050405020304" pitchFamily="18" charset="0"/>
              </a:rPr>
              <a:t>Brute-force</a:t>
            </a:r>
          </a:p>
        </p:txBody>
      </p:sp>
      <p:sp>
        <p:nvSpPr>
          <p:cNvPr id="3" name="Content Placeholder 2">
            <a:extLst>
              <a:ext uri="{FF2B5EF4-FFF2-40B4-BE49-F238E27FC236}">
                <a16:creationId xmlns:a16="http://schemas.microsoft.com/office/drawing/2014/main" id="{D1C481A0-DE12-EF2B-0BED-54C4F27A6936}"/>
              </a:ext>
            </a:extLst>
          </p:cNvPr>
          <p:cNvSpPr>
            <a:spLocks noGrp="1"/>
          </p:cNvSpPr>
          <p:nvPr>
            <p:ph idx="1"/>
          </p:nvPr>
        </p:nvSpPr>
        <p:spPr>
          <a:xfrm>
            <a:off x="838200" y="1519518"/>
            <a:ext cx="10515600" cy="4657445"/>
          </a:xfrm>
        </p:spPr>
        <p:txBody>
          <a:bodyPr>
            <a:normAutofit/>
          </a:bodyPr>
          <a:lstStyle/>
          <a:p>
            <a:pPr algn="just"/>
            <a:r>
              <a:rPr lang="en-US" sz="3200" dirty="0">
                <a:latin typeface="Times New Roman" panose="02020603050405020304" pitchFamily="18" charset="0"/>
                <a:cs typeface="Times New Roman" panose="02020603050405020304" pitchFamily="18" charset="0"/>
              </a:rPr>
              <a:t>COLLISION RESISTANT ATTACKS</a:t>
            </a:r>
          </a:p>
          <a:p>
            <a:pPr marL="0" indent="0" algn="just">
              <a:buNone/>
            </a:pPr>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For a collision resistant attack, an adversary wishes to find two messages or data blocks, x and y, that yield the same hash function: H(x) = H(y). </a:t>
            </a:r>
          </a:p>
          <a:p>
            <a:pPr marL="457200" lvl="1" indent="0" algn="just">
              <a:buNone/>
            </a:pPr>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This turns out to require considerably less effort than a preimage or second preimage attack.</a:t>
            </a:r>
          </a:p>
        </p:txBody>
      </p:sp>
    </p:spTree>
    <p:extLst>
      <p:ext uri="{BB962C8B-B14F-4D97-AF65-F5344CB8AC3E}">
        <p14:creationId xmlns:p14="http://schemas.microsoft.com/office/powerpoint/2010/main" val="3141359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C238-1CD9-6A89-122D-C80817DAA69B}"/>
              </a:ext>
            </a:extLst>
          </p:cNvPr>
          <p:cNvSpPr>
            <a:spLocks noGrp="1"/>
          </p:cNvSpPr>
          <p:nvPr>
            <p:ph type="title"/>
          </p:nvPr>
        </p:nvSpPr>
        <p:spPr>
          <a:xfrm>
            <a:off x="838200" y="96184"/>
            <a:ext cx="10515600" cy="925793"/>
          </a:xfrm>
        </p:spPr>
        <p:txBody>
          <a:bodyPr/>
          <a:lstStyle/>
          <a:p>
            <a:pPr algn="ctr"/>
            <a:r>
              <a:rPr lang="en-US" b="1" dirty="0">
                <a:latin typeface="Times New Roman" panose="02020603050405020304" pitchFamily="18" charset="0"/>
                <a:cs typeface="Times New Roman" panose="02020603050405020304" pitchFamily="18" charset="0"/>
              </a:rPr>
              <a:t>Cryptanalysis</a:t>
            </a:r>
          </a:p>
        </p:txBody>
      </p:sp>
      <p:sp>
        <p:nvSpPr>
          <p:cNvPr id="3" name="Content Placeholder 2">
            <a:extLst>
              <a:ext uri="{FF2B5EF4-FFF2-40B4-BE49-F238E27FC236}">
                <a16:creationId xmlns:a16="http://schemas.microsoft.com/office/drawing/2014/main" id="{D1C481A0-DE12-EF2B-0BED-54C4F27A6936}"/>
              </a:ext>
            </a:extLst>
          </p:cNvPr>
          <p:cNvSpPr>
            <a:spLocks noGrp="1"/>
          </p:cNvSpPr>
          <p:nvPr>
            <p:ph idx="1"/>
          </p:nvPr>
        </p:nvSpPr>
        <p:spPr>
          <a:xfrm>
            <a:off x="838200" y="1021976"/>
            <a:ext cx="10515600" cy="5634317"/>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COLLISION RESISTANT ATTACKS</a:t>
            </a:r>
          </a:p>
          <a:p>
            <a:pPr marL="0" indent="0" algn="just">
              <a:buNone/>
            </a:pPr>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Cryptanalytic attacks on hash functions seek to exploit some property of the algorithm to perform some attack other than an exhaustive search.</a:t>
            </a:r>
          </a:p>
          <a:p>
            <a:pPr lvl="1" algn="just"/>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The way to measure the resistance of a hash algorithm to cryptanalysis is to compare its strength to the effort required for a brute-force attack. </a:t>
            </a:r>
          </a:p>
          <a:p>
            <a:pPr lvl="1" algn="just"/>
            <a:endParaRPr lang="en-US" sz="3200" dirty="0">
              <a:latin typeface="Times New Roman" panose="02020603050405020304" pitchFamily="18" charset="0"/>
              <a:cs typeface="Times New Roman" panose="02020603050405020304" pitchFamily="18" charset="0"/>
            </a:endParaRPr>
          </a:p>
          <a:p>
            <a:pPr lvl="1" algn="just"/>
            <a:r>
              <a:rPr lang="en-US" sz="3200" dirty="0">
                <a:latin typeface="Times New Roman" panose="02020603050405020304" pitchFamily="18" charset="0"/>
                <a:cs typeface="Times New Roman" panose="02020603050405020304" pitchFamily="18" charset="0"/>
              </a:rPr>
              <a:t>That is, an ideal hash algorithm will require a cryptanalytic effort greater than or equal to the brute-force effort.</a:t>
            </a:r>
          </a:p>
        </p:txBody>
      </p:sp>
    </p:spTree>
    <p:extLst>
      <p:ext uri="{BB962C8B-B14F-4D97-AF65-F5344CB8AC3E}">
        <p14:creationId xmlns:p14="http://schemas.microsoft.com/office/powerpoint/2010/main" val="1223098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70CA-AA42-8E86-FD91-309E89383CDD}"/>
              </a:ext>
            </a:extLst>
          </p:cNvPr>
          <p:cNvSpPr>
            <a:spLocks noGrp="1"/>
          </p:cNvSpPr>
          <p:nvPr>
            <p:ph type="title"/>
          </p:nvPr>
        </p:nvSpPr>
        <p:spPr>
          <a:xfrm>
            <a:off x="703729" y="66533"/>
            <a:ext cx="10515600" cy="1046114"/>
          </a:xfrm>
        </p:spPr>
        <p:txBody>
          <a:bodyPr/>
          <a:lstStyle/>
          <a:p>
            <a:pPr algn="ctr"/>
            <a:r>
              <a:rPr lang="en-US" b="1" dirty="0">
                <a:latin typeface="Times New Roman" panose="02020603050405020304" pitchFamily="18" charset="0"/>
                <a:cs typeface="Times New Roman" panose="02020603050405020304" pitchFamily="18" charset="0"/>
              </a:rPr>
              <a:t>Secure Hash Algorithm (SHA)</a:t>
            </a:r>
          </a:p>
        </p:txBody>
      </p:sp>
      <p:sp>
        <p:nvSpPr>
          <p:cNvPr id="3" name="Content Placeholder 2">
            <a:extLst>
              <a:ext uri="{FF2B5EF4-FFF2-40B4-BE49-F238E27FC236}">
                <a16:creationId xmlns:a16="http://schemas.microsoft.com/office/drawing/2014/main" id="{B13173B0-7567-4063-4445-7D40531E0769}"/>
              </a:ext>
            </a:extLst>
          </p:cNvPr>
          <p:cNvSpPr>
            <a:spLocks noGrp="1"/>
          </p:cNvSpPr>
          <p:nvPr>
            <p:ph idx="1"/>
          </p:nvPr>
        </p:nvSpPr>
        <p:spPr>
          <a:xfrm>
            <a:off x="838200" y="1250576"/>
            <a:ext cx="10515600" cy="1559859"/>
          </a:xfrm>
        </p:spPr>
        <p:txBody>
          <a:bodyPr/>
          <a:lstStyle/>
          <a:p>
            <a:pPr algn="just"/>
            <a:r>
              <a:rPr lang="en-US" dirty="0">
                <a:latin typeface="Times New Roman" panose="02020603050405020304" pitchFamily="18" charset="0"/>
                <a:cs typeface="Times New Roman" panose="02020603050405020304" pitchFamily="18" charset="0"/>
              </a:rPr>
              <a:t>SHA was developed by the National Institute of Standards and Technology (NIST) and published as a federal information processing standard (FIPS 180) in 1993.</a:t>
            </a:r>
          </a:p>
          <a:p>
            <a:endParaRPr lang="en-US" dirty="0"/>
          </a:p>
        </p:txBody>
      </p:sp>
      <p:pic>
        <p:nvPicPr>
          <p:cNvPr id="5" name="Picture 4">
            <a:extLst>
              <a:ext uri="{FF2B5EF4-FFF2-40B4-BE49-F238E27FC236}">
                <a16:creationId xmlns:a16="http://schemas.microsoft.com/office/drawing/2014/main" id="{B174BE6F-256C-72BB-5E67-C73D93B65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968" y="2893407"/>
            <a:ext cx="8164064" cy="3486637"/>
          </a:xfrm>
          <a:prstGeom prst="rect">
            <a:avLst/>
          </a:prstGeom>
        </p:spPr>
      </p:pic>
    </p:spTree>
    <p:extLst>
      <p:ext uri="{BB962C8B-B14F-4D97-AF65-F5344CB8AC3E}">
        <p14:creationId xmlns:p14="http://schemas.microsoft.com/office/powerpoint/2010/main" val="4140803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E9F1E-1B88-F8C9-1764-E400B1A6F755}"/>
              </a:ext>
            </a:extLst>
          </p:cNvPr>
          <p:cNvSpPr>
            <a:spLocks noGrp="1"/>
          </p:cNvSpPr>
          <p:nvPr>
            <p:ph idx="1"/>
          </p:nvPr>
        </p:nvSpPr>
        <p:spPr>
          <a:xfrm>
            <a:off x="340964" y="127861"/>
            <a:ext cx="6509288" cy="6701962"/>
          </a:xfrm>
        </p:spPr>
        <p:txBody>
          <a:bodyPr>
            <a:normAutofit fontScale="92500" lnSpcReduction="20000"/>
          </a:bodyPr>
          <a:lstStyle/>
          <a:p>
            <a:pPr marL="0" lvl="0" indent="0" algn="just">
              <a:lnSpc>
                <a:spcPct val="150000"/>
              </a:lnSpc>
              <a:buNone/>
            </a:pPr>
            <a:r>
              <a:rPr lang="en-GH" sz="2400" dirty="0">
                <a:effectLst/>
                <a:latin typeface="Times New Roman" panose="02020603050405020304" pitchFamily="18" charset="0"/>
                <a:ea typeface="Calibri" panose="020F0502020204030204" pitchFamily="34" charset="0"/>
                <a:cs typeface="Times New Roman" panose="02020603050405020304" pitchFamily="18" charset="0"/>
              </a:rPr>
              <a:t>A multinational company is implementing a new security policy framework to protect its critical data and IT infrastructure. The security team is tasked with designing access control policies, data classification procedures, and incident response plans.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0" lvl="0" indent="0" algn="just">
              <a:lnSpc>
                <a:spcPct val="110000"/>
              </a:lnSpc>
              <a:buNone/>
            </a:pPr>
            <a:r>
              <a:rPr lang="en-GH" sz="2400" dirty="0">
                <a:effectLst/>
                <a:latin typeface="Times New Roman" panose="02020603050405020304" pitchFamily="18" charset="0"/>
                <a:ea typeface="Calibri" panose="020F0502020204030204" pitchFamily="34" charset="0"/>
                <a:cs typeface="Times New Roman" panose="02020603050405020304" pitchFamily="18" charset="0"/>
              </a:rPr>
              <a:t>As part of the policy rollout, the company faces several challenges, including:</a:t>
            </a:r>
            <a:endParaRPr lang="en-GH"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0000"/>
              </a:lnSpc>
              <a:spcAft>
                <a:spcPts val="800"/>
              </a:spcAft>
              <a:buSzPts val="1000"/>
              <a:buFont typeface="+mj-lt"/>
              <a:buAutoNum type="romanLcPeriod"/>
              <a:tabLst>
                <a:tab pos="914400" algn="l"/>
              </a:tabLst>
            </a:pPr>
            <a:r>
              <a:rPr lang="en-GH" sz="2400" dirty="0">
                <a:effectLst/>
                <a:latin typeface="Times New Roman" panose="02020603050405020304" pitchFamily="18" charset="0"/>
                <a:ea typeface="Calibri" panose="020F0502020204030204" pitchFamily="34" charset="0"/>
                <a:cs typeface="Times New Roman" panose="02020603050405020304" pitchFamily="18" charset="0"/>
              </a:rPr>
              <a:t>Employees bypassing security controls to improve workflow efficiency.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0000"/>
              </a:lnSpc>
              <a:spcAft>
                <a:spcPts val="800"/>
              </a:spcAft>
              <a:buSzPts val="1000"/>
              <a:buFont typeface="+mj-lt"/>
              <a:buAutoNum type="romanLcPeriod"/>
              <a:tabLst>
                <a:tab pos="914400" algn="l"/>
              </a:tabLst>
            </a:pPr>
            <a:r>
              <a:rPr lang="en-GH" sz="2400" dirty="0">
                <a:effectLst/>
                <a:latin typeface="Times New Roman" panose="02020603050405020304" pitchFamily="18" charset="0"/>
                <a:ea typeface="Calibri" panose="020F0502020204030204" pitchFamily="34" charset="0"/>
                <a:cs typeface="Times New Roman" panose="02020603050405020304" pitchFamily="18" charset="0"/>
              </a:rPr>
              <a:t>Difficulty in enforcing password complexity policies.</a:t>
            </a:r>
            <a:endParaRPr lang="en-GH"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0000"/>
              </a:lnSpc>
              <a:spcAft>
                <a:spcPts val="800"/>
              </a:spcAft>
              <a:buSzPts val="1000"/>
              <a:buFont typeface="+mj-lt"/>
              <a:buAutoNum type="romanLcPeriod"/>
              <a:tabLst>
                <a:tab pos="914400" algn="l"/>
              </a:tabLst>
            </a:pPr>
            <a:r>
              <a:rPr lang="en-GH" sz="2400" dirty="0">
                <a:effectLst/>
                <a:latin typeface="Times New Roman" panose="02020603050405020304" pitchFamily="18" charset="0"/>
                <a:ea typeface="Calibri" panose="020F0502020204030204" pitchFamily="34" charset="0"/>
                <a:cs typeface="Times New Roman" panose="02020603050405020304" pitchFamily="18" charset="0"/>
              </a:rPr>
              <a:t>Managing data ownership and sharing policies across multiple departments</a:t>
            </a:r>
            <a:endParaRPr lang="en-GH" sz="2400" dirty="0">
              <a:effectLst/>
              <a:latin typeface="Calibri" panose="020F0502020204030204" pitchFamily="34" charset="0"/>
              <a:ea typeface="Calibri" panose="020F0502020204030204" pitchFamily="34" charset="0"/>
              <a:cs typeface="Times New Roman" panose="02020603050405020304" pitchFamily="18" charset="0"/>
            </a:endParaRPr>
          </a:p>
          <a:p>
            <a:pPr marL="491490" algn="just">
              <a:lnSpc>
                <a:spcPct val="110000"/>
              </a:lnSpc>
              <a:spcAft>
                <a:spcPts val="800"/>
              </a:spcAft>
              <a:buNone/>
            </a:pPr>
            <a:r>
              <a:rPr lang="en-GH" sz="2400" dirty="0">
                <a:effectLst/>
                <a:latin typeface="Times New Roman" panose="02020603050405020304" pitchFamily="18" charset="0"/>
                <a:ea typeface="Calibri" panose="020F0502020204030204" pitchFamily="34" charset="0"/>
                <a:cs typeface="Times New Roman" panose="02020603050405020304" pitchFamily="18" charset="0"/>
              </a:rPr>
              <a:t>Use the scenario above to answer the questions below:	</a:t>
            </a:r>
            <a:endParaRPr lang="en-GH"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5991C37-3B9C-77E4-EC94-381966EA406F}"/>
              </a:ext>
            </a:extLst>
          </p:cNvPr>
          <p:cNvSpPr txBox="1"/>
          <p:nvPr/>
        </p:nvSpPr>
        <p:spPr>
          <a:xfrm>
            <a:off x="7036231" y="77492"/>
            <a:ext cx="4932336" cy="6701963"/>
          </a:xfrm>
          <a:prstGeom prst="rect">
            <a:avLst/>
          </a:prstGeom>
          <a:noFill/>
        </p:spPr>
        <p:txBody>
          <a:bodyPr wrap="square">
            <a:spAutoFit/>
          </a:bodyPr>
          <a:lstStyle/>
          <a:p>
            <a:pPr marL="342900" lvl="0" indent="-342900" algn="just">
              <a:lnSpc>
                <a:spcPct val="110000"/>
              </a:lnSpc>
              <a:buFont typeface="+mj-lt"/>
              <a:buAutoNum type="alphaLcPeriod"/>
            </a:pPr>
            <a:r>
              <a:rPr lang="en-GH" sz="2700" dirty="0">
                <a:effectLst/>
                <a:latin typeface="Times New Roman" panose="02020603050405020304" pitchFamily="18" charset="0"/>
                <a:ea typeface="Calibri" panose="020F0502020204030204" pitchFamily="34" charset="0"/>
                <a:cs typeface="Times New Roman" panose="02020603050405020304" pitchFamily="18" charset="0"/>
              </a:rPr>
              <a:t>Explain </a:t>
            </a:r>
            <a:r>
              <a:rPr lang="en-GH" sz="2700" b="1" dirty="0">
                <a:effectLst/>
                <a:latin typeface="Times New Roman" panose="02020603050405020304" pitchFamily="18" charset="0"/>
                <a:ea typeface="Calibri" panose="020F0502020204030204" pitchFamily="34" charset="0"/>
                <a:cs typeface="Times New Roman" panose="02020603050405020304" pitchFamily="18" charset="0"/>
              </a:rPr>
              <a:t>THREE (3)</a:t>
            </a:r>
            <a:r>
              <a:rPr lang="en-GH" sz="2700" dirty="0">
                <a:effectLst/>
                <a:latin typeface="Times New Roman" panose="02020603050405020304" pitchFamily="18" charset="0"/>
                <a:ea typeface="Calibri" panose="020F0502020204030204" pitchFamily="34" charset="0"/>
                <a:cs typeface="Times New Roman" panose="02020603050405020304" pitchFamily="18" charset="0"/>
              </a:rPr>
              <a:t> key elements of an effective security policy and how they help address the challenges above.</a:t>
            </a:r>
            <a:endParaRPr lang="en-GH" sz="2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0000"/>
              </a:lnSpc>
              <a:buFont typeface="+mj-lt"/>
              <a:buAutoNum type="alphaLcPeriod"/>
            </a:pPr>
            <a:r>
              <a:rPr lang="en-GH" sz="2700" dirty="0">
                <a:effectLst/>
                <a:latin typeface="Times New Roman" panose="02020603050405020304" pitchFamily="18" charset="0"/>
                <a:ea typeface="Calibri" panose="020F0502020204030204" pitchFamily="34" charset="0"/>
                <a:cs typeface="Times New Roman" panose="02020603050405020304" pitchFamily="18" charset="0"/>
              </a:rPr>
              <a:t>Discuss </a:t>
            </a:r>
            <a:r>
              <a:rPr lang="en-GH" sz="2700" b="1" dirty="0">
                <a:effectLst/>
                <a:latin typeface="Times New Roman" panose="02020603050405020304" pitchFamily="18" charset="0"/>
                <a:ea typeface="Calibri" panose="020F0502020204030204" pitchFamily="34" charset="0"/>
                <a:cs typeface="Times New Roman" panose="02020603050405020304" pitchFamily="18" charset="0"/>
              </a:rPr>
              <a:t>TWO (2)</a:t>
            </a:r>
            <a:r>
              <a:rPr lang="en-GH" sz="2700" dirty="0">
                <a:effectLst/>
                <a:latin typeface="Times New Roman" panose="02020603050405020304" pitchFamily="18" charset="0"/>
                <a:ea typeface="Calibri" panose="020F0502020204030204" pitchFamily="34" charset="0"/>
                <a:cs typeface="Times New Roman" panose="02020603050405020304" pitchFamily="18" charset="0"/>
              </a:rPr>
              <a:t> importance </a:t>
            </a:r>
            <a:r>
              <a:rPr lang="en-GH" sz="2700" b="1" dirty="0">
                <a:effectLst/>
                <a:latin typeface="Times New Roman" panose="02020603050405020304" pitchFamily="18" charset="0"/>
                <a:ea typeface="Calibri" panose="020F0502020204030204" pitchFamily="34" charset="0"/>
                <a:cs typeface="Times New Roman" panose="02020603050405020304" pitchFamily="18" charset="0"/>
              </a:rPr>
              <a:t>EACH</a:t>
            </a:r>
            <a:r>
              <a:rPr lang="en-GH" sz="2700" dirty="0">
                <a:effectLst/>
                <a:latin typeface="Times New Roman" panose="02020603050405020304" pitchFamily="18" charset="0"/>
                <a:ea typeface="Calibri" panose="020F0502020204030204" pitchFamily="34" charset="0"/>
                <a:cs typeface="Times New Roman" panose="02020603050405020304" pitchFamily="18" charset="0"/>
              </a:rPr>
              <a:t> of role-based access control (RBAC) and least privilege principles in enforcing access policies.</a:t>
            </a:r>
            <a:endParaRPr lang="en-GH" sz="2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0000"/>
              </a:lnSpc>
              <a:spcAft>
                <a:spcPts val="800"/>
              </a:spcAft>
              <a:buFont typeface="+mj-lt"/>
              <a:buAutoNum type="alphaLcPeriod"/>
            </a:pPr>
            <a:r>
              <a:rPr lang="en-GH" sz="2700" dirty="0">
                <a:effectLst/>
                <a:latin typeface="Times New Roman" panose="02020603050405020304" pitchFamily="18" charset="0"/>
                <a:ea typeface="Calibri" panose="020F0502020204030204" pitchFamily="34" charset="0"/>
                <a:cs typeface="Times New Roman" panose="02020603050405020304" pitchFamily="18" charset="0"/>
              </a:rPr>
              <a:t>Describe how security awareness training can mitigate risks related to policy violations. 		</a:t>
            </a:r>
            <a:endParaRPr lang="en-GH" sz="2700" dirty="0"/>
          </a:p>
        </p:txBody>
      </p:sp>
    </p:spTree>
    <p:extLst>
      <p:ext uri="{BB962C8B-B14F-4D97-AF65-F5344CB8AC3E}">
        <p14:creationId xmlns:p14="http://schemas.microsoft.com/office/powerpoint/2010/main" val="3730750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1774</TotalTime>
  <Words>1595</Words>
  <Application>Microsoft Office PowerPoint</Application>
  <PresentationFormat>Widescreen</PresentationFormat>
  <Paragraphs>118</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Cryptographic Hash Functions</vt:lpstr>
      <vt:lpstr>PROJECT TOPICS</vt:lpstr>
      <vt:lpstr>Introduction</vt:lpstr>
      <vt:lpstr>Introduction</vt:lpstr>
      <vt:lpstr>Diagram</vt:lpstr>
      <vt:lpstr>APPLICATIONS OF CRYPTOGRAPHIC HASH FUNCTIONS</vt:lpstr>
      <vt:lpstr>Message Authentication</vt:lpstr>
      <vt:lpstr>Message Authentication</vt:lpstr>
      <vt:lpstr>Message Authentication</vt:lpstr>
      <vt:lpstr>Ways in which a hash code can be used to provide message authentication</vt:lpstr>
      <vt:lpstr>Ways in which a hash code can be used to provide message authentication</vt:lpstr>
      <vt:lpstr>Ways in which a hash code can be used to provide message authentication</vt:lpstr>
      <vt:lpstr>Ways in which a hash code can be used to provide message authentication</vt:lpstr>
      <vt:lpstr>Ways in which a hash code can be used to provide message authentication</vt:lpstr>
      <vt:lpstr>Reasons to avoid encryption</vt:lpstr>
      <vt:lpstr>Cont…</vt:lpstr>
      <vt:lpstr>Message Authentication</vt:lpstr>
      <vt:lpstr>Digital signature</vt:lpstr>
      <vt:lpstr>How a hash code is used to provide a digital signature</vt:lpstr>
      <vt:lpstr>How a hash code is used to provide a digital signature</vt:lpstr>
      <vt:lpstr>Requirements and Security</vt:lpstr>
      <vt:lpstr>Requirements for a Cryptographic Hash Function</vt:lpstr>
      <vt:lpstr>Categories of attacks on hash functions</vt:lpstr>
      <vt:lpstr>Brute-force</vt:lpstr>
      <vt:lpstr>Brute-force</vt:lpstr>
      <vt:lpstr>Cryptanalysis</vt:lpstr>
      <vt:lpstr>Secure Hash Algorithm (SHA)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Cryptographic Hash Function</dc:title>
  <dc:creator>AWARAYI</dc:creator>
  <cp:lastModifiedBy>PC</cp:lastModifiedBy>
  <cp:revision>35</cp:revision>
  <dcterms:created xsi:type="dcterms:W3CDTF">2023-03-07T16:16:01Z</dcterms:created>
  <dcterms:modified xsi:type="dcterms:W3CDTF">2025-03-26T01:10:09Z</dcterms:modified>
</cp:coreProperties>
</file>