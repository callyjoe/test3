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60" r:id="rId4"/>
    <p:sldId id="258" r:id="rId5"/>
    <p:sldId id="259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74" d="100"/>
          <a:sy n="74" d="100"/>
        </p:scale>
        <p:origin x="576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FF5010-F1F3-4238-AA00-0CAFFA4F7796}" type="datetimeFigureOut">
              <a:rPr lang="en-US" smtClean="0"/>
              <a:t>1/17/2025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41F7CB-097A-49BC-968A-D120847C42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68403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FF5010-F1F3-4238-AA00-0CAFFA4F7796}" type="datetimeFigureOut">
              <a:rPr lang="en-US" smtClean="0"/>
              <a:t>1/17/2025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41F7CB-097A-49BC-968A-D120847C42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9016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FF5010-F1F3-4238-AA00-0CAFFA4F7796}" type="datetimeFigureOut">
              <a:rPr lang="en-US" smtClean="0"/>
              <a:t>1/17/2025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41F7CB-097A-49BC-968A-D120847C42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144744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FF5010-F1F3-4238-AA00-0CAFFA4F7796}" type="datetimeFigureOut">
              <a:rPr lang="en-US" smtClean="0"/>
              <a:t>1/17/2025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41F7CB-097A-49BC-968A-D120847C42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07605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FF5010-F1F3-4238-AA00-0CAFFA4F7796}" type="datetimeFigureOut">
              <a:rPr lang="en-US" smtClean="0"/>
              <a:t>1/17/2025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41F7CB-097A-49BC-968A-D120847C42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547361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FF5010-F1F3-4238-AA00-0CAFFA4F7796}" type="datetimeFigureOut">
              <a:rPr lang="en-US" smtClean="0"/>
              <a:t>1/17/2025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41F7CB-097A-49BC-968A-D120847C42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009348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FF5010-F1F3-4238-AA00-0CAFFA4F7796}" type="datetimeFigureOut">
              <a:rPr lang="en-US" smtClean="0"/>
              <a:t>1/17/2025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41F7CB-097A-49BC-968A-D120847C42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06512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FF5010-F1F3-4238-AA00-0CAFFA4F7796}" type="datetimeFigureOut">
              <a:rPr lang="en-US" smtClean="0"/>
              <a:t>1/17/2025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41F7CB-097A-49BC-968A-D120847C42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93260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FF5010-F1F3-4238-AA00-0CAFFA4F7796}" type="datetimeFigureOut">
              <a:rPr lang="en-US" smtClean="0"/>
              <a:t>1/17/2025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41F7CB-097A-49BC-968A-D120847C42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66408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FF5010-F1F3-4238-AA00-0CAFFA4F7796}" type="datetimeFigureOut">
              <a:rPr lang="en-US" smtClean="0"/>
              <a:t>1/17/2025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41F7CB-097A-49BC-968A-D120847C42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778537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FF5010-F1F3-4238-AA00-0CAFFA4F7796}" type="datetimeFigureOut">
              <a:rPr lang="en-US" smtClean="0"/>
              <a:t>1/17/2025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41F7CB-097A-49BC-968A-D120847C42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727991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5FF5010-F1F3-4238-AA00-0CAFFA4F7796}" type="datetimeFigureOut">
              <a:rPr lang="en-US" smtClean="0"/>
              <a:t>1/17/2025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D41F7CB-097A-49BC-968A-D120847C42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98153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UNIT I </a:t>
            </a:r>
            <a:br>
              <a:rPr lang="en-US" dirty="0" smtClean="0"/>
            </a:br>
            <a:r>
              <a:rPr lang="en-US" dirty="0" smtClean="0"/>
              <a:t>CLOUD COMPUTING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smtClean="0"/>
              <a:t>By: Dr. John </a:t>
            </a:r>
            <a:r>
              <a:rPr lang="en-US" dirty="0" err="1" smtClean="0"/>
              <a:t>Kwao</a:t>
            </a:r>
            <a:r>
              <a:rPr lang="en-US" dirty="0" smtClean="0"/>
              <a:t> Dawson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21932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93183"/>
            <a:ext cx="10515600" cy="5983780"/>
          </a:xfrm>
        </p:spPr>
        <p:txBody>
          <a:bodyPr>
            <a:normAutofit/>
          </a:bodyPr>
          <a:lstStyle/>
          <a:p>
            <a:pPr marL="0" indent="0" algn="just">
              <a:lnSpc>
                <a:spcPct val="150000"/>
              </a:lnSpc>
              <a:buNone/>
            </a:pPr>
            <a:r>
              <a:rPr lang="en-US" sz="3200" b="1" dirty="0"/>
              <a:t>Cloud </a:t>
            </a:r>
            <a:r>
              <a:rPr lang="en-US" sz="3200" b="1" dirty="0" smtClean="0"/>
              <a:t>Computing </a:t>
            </a:r>
            <a:r>
              <a:rPr lang="en-US" sz="3200" b="1" dirty="0"/>
              <a:t>- Overview </a:t>
            </a:r>
            <a:endParaRPr lang="en-US" sz="3200" b="1" dirty="0" smtClean="0"/>
          </a:p>
          <a:p>
            <a:pPr algn="just">
              <a:lnSpc>
                <a:spcPct val="150000"/>
              </a:lnSpc>
            </a:pPr>
            <a:r>
              <a:rPr lang="en-US" sz="3200" dirty="0" smtClean="0"/>
              <a:t>Helps </a:t>
            </a:r>
            <a:r>
              <a:rPr lang="en-US" sz="3200" dirty="0"/>
              <a:t>access </a:t>
            </a:r>
            <a:r>
              <a:rPr lang="en-US" sz="3200" dirty="0" smtClean="0"/>
              <a:t>applications </a:t>
            </a:r>
            <a:r>
              <a:rPr lang="en-US" sz="3200" dirty="0"/>
              <a:t>as </a:t>
            </a:r>
            <a:r>
              <a:rPr lang="en-US" sz="3200" dirty="0" smtClean="0"/>
              <a:t>utilities.</a:t>
            </a:r>
          </a:p>
          <a:p>
            <a:pPr algn="just">
              <a:lnSpc>
                <a:spcPct val="150000"/>
              </a:lnSpc>
            </a:pPr>
            <a:r>
              <a:rPr lang="en-US" sz="3200" dirty="0" smtClean="0"/>
              <a:t>Using </a:t>
            </a:r>
            <a:r>
              <a:rPr lang="en-US" sz="3200" dirty="0"/>
              <a:t>the Internet</a:t>
            </a:r>
            <a:r>
              <a:rPr lang="en-US" sz="3200" dirty="0" smtClean="0"/>
              <a:t>.</a:t>
            </a:r>
          </a:p>
          <a:p>
            <a:pPr algn="just">
              <a:lnSpc>
                <a:spcPct val="150000"/>
              </a:lnSpc>
            </a:pPr>
            <a:r>
              <a:rPr lang="en-US" sz="3200" dirty="0" smtClean="0"/>
              <a:t>It </a:t>
            </a:r>
            <a:r>
              <a:rPr lang="en-US" sz="3200" dirty="0"/>
              <a:t>allows us to </a:t>
            </a:r>
            <a:r>
              <a:rPr lang="en-US" sz="3200" dirty="0" smtClean="0"/>
              <a:t>create and configure.</a:t>
            </a:r>
          </a:p>
          <a:p>
            <a:pPr algn="just">
              <a:lnSpc>
                <a:spcPct val="150000"/>
              </a:lnSpc>
            </a:pPr>
            <a:r>
              <a:rPr lang="en-US" sz="3200" dirty="0"/>
              <a:t>C</a:t>
            </a:r>
            <a:r>
              <a:rPr lang="en-US" sz="3200" dirty="0" smtClean="0"/>
              <a:t>ustomize </a:t>
            </a:r>
            <a:r>
              <a:rPr lang="en-US" sz="3200"/>
              <a:t>applications </a:t>
            </a:r>
            <a:r>
              <a:rPr lang="en-US" sz="3200" smtClean="0"/>
              <a:t>online.</a:t>
            </a:r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8348619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218941"/>
            <a:ext cx="10515600" cy="5958022"/>
          </a:xfrm>
        </p:spPr>
        <p:txBody>
          <a:bodyPr>
            <a:normAutofit/>
          </a:bodyPr>
          <a:lstStyle/>
          <a:p>
            <a:pPr algn="just">
              <a:lnSpc>
                <a:spcPct val="150000"/>
              </a:lnSpc>
            </a:pPr>
            <a:r>
              <a:rPr lang="en-US" sz="3200" dirty="0"/>
              <a:t>Cloud Computing refers to manipulating, configuring, and </a:t>
            </a:r>
            <a:r>
              <a:rPr lang="en-US" sz="3200"/>
              <a:t>accessing </a:t>
            </a:r>
            <a:r>
              <a:rPr lang="en-US" sz="3200" smtClean="0"/>
              <a:t>applications </a:t>
            </a:r>
            <a:r>
              <a:rPr lang="en-US" sz="3200" dirty="0"/>
              <a:t>online</a:t>
            </a:r>
            <a:r>
              <a:rPr lang="en-US" sz="3200" dirty="0" smtClean="0"/>
              <a:t>.</a:t>
            </a:r>
          </a:p>
          <a:p>
            <a:pPr algn="just">
              <a:lnSpc>
                <a:spcPct val="150000"/>
              </a:lnSpc>
            </a:pPr>
            <a:r>
              <a:rPr lang="en-US" sz="3200" dirty="0" smtClean="0"/>
              <a:t> </a:t>
            </a:r>
            <a:r>
              <a:rPr lang="en-US" sz="3200" dirty="0"/>
              <a:t>It offers online data </a:t>
            </a:r>
            <a:r>
              <a:rPr lang="en-US" sz="3200" dirty="0" smtClean="0"/>
              <a:t>storage.</a:t>
            </a:r>
          </a:p>
          <a:p>
            <a:pPr algn="just">
              <a:lnSpc>
                <a:spcPct val="150000"/>
              </a:lnSpc>
            </a:pPr>
            <a:r>
              <a:rPr lang="en-US" sz="3200" dirty="0" smtClean="0"/>
              <a:t> </a:t>
            </a:r>
            <a:r>
              <a:rPr lang="en-US" sz="3200" dirty="0"/>
              <a:t>I</a:t>
            </a:r>
            <a:r>
              <a:rPr lang="en-US" sz="3200" dirty="0" smtClean="0"/>
              <a:t>nfrastructure </a:t>
            </a:r>
            <a:r>
              <a:rPr lang="en-US" sz="3200" dirty="0"/>
              <a:t>and application. </a:t>
            </a:r>
          </a:p>
        </p:txBody>
      </p:sp>
    </p:spTree>
    <p:extLst>
      <p:ext uri="{BB962C8B-B14F-4D97-AF65-F5344CB8AC3E}">
        <p14:creationId xmlns:p14="http://schemas.microsoft.com/office/powerpoint/2010/main" val="3555618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270456"/>
            <a:ext cx="10515600" cy="6439437"/>
          </a:xfrm>
        </p:spPr>
        <p:txBody>
          <a:bodyPr>
            <a:normAutofit fontScale="92500" lnSpcReduction="10000"/>
          </a:bodyPr>
          <a:lstStyle/>
          <a:p>
            <a:pPr marL="0" indent="0" algn="just">
              <a:lnSpc>
                <a:spcPct val="150000"/>
              </a:lnSpc>
              <a:buNone/>
            </a:pPr>
            <a:r>
              <a:rPr lang="en-US" sz="3200" dirty="0"/>
              <a:t>What is Cloud? </a:t>
            </a:r>
          </a:p>
          <a:p>
            <a:pPr algn="just">
              <a:lnSpc>
                <a:spcPct val="150000"/>
              </a:lnSpc>
            </a:pPr>
            <a:r>
              <a:rPr lang="en-US" sz="3200" dirty="0" smtClean="0"/>
              <a:t>Cloud </a:t>
            </a:r>
            <a:r>
              <a:rPr lang="en-US" sz="3200" dirty="0"/>
              <a:t>refers to a Network or Internet</a:t>
            </a:r>
            <a:r>
              <a:rPr lang="en-US" sz="3200" dirty="0" smtClean="0"/>
              <a:t>.</a:t>
            </a:r>
          </a:p>
          <a:p>
            <a:pPr algn="just">
              <a:lnSpc>
                <a:spcPct val="150000"/>
              </a:lnSpc>
            </a:pPr>
            <a:r>
              <a:rPr lang="en-US" sz="3200" dirty="0" smtClean="0"/>
              <a:t> Is </a:t>
            </a:r>
            <a:r>
              <a:rPr lang="en-US" sz="3200" dirty="0"/>
              <a:t>present at remote location. </a:t>
            </a:r>
            <a:endParaRPr lang="en-US" sz="3200" dirty="0" smtClean="0"/>
          </a:p>
          <a:p>
            <a:pPr algn="just">
              <a:lnSpc>
                <a:spcPct val="150000"/>
              </a:lnSpc>
            </a:pPr>
            <a:r>
              <a:rPr lang="en-US" sz="3200" dirty="0" smtClean="0"/>
              <a:t>Cloud provides </a:t>
            </a:r>
            <a:r>
              <a:rPr lang="en-US" sz="3200" dirty="0"/>
              <a:t>services over </a:t>
            </a:r>
            <a:r>
              <a:rPr lang="en-US" sz="3200" dirty="0" smtClean="0"/>
              <a:t>network.</a:t>
            </a:r>
          </a:p>
          <a:p>
            <a:pPr algn="just">
              <a:lnSpc>
                <a:spcPct val="150000"/>
              </a:lnSpc>
            </a:pPr>
            <a:r>
              <a:rPr lang="en-US" sz="3200" dirty="0" smtClean="0"/>
              <a:t>Public </a:t>
            </a:r>
            <a:r>
              <a:rPr lang="en-US" sz="3200" dirty="0"/>
              <a:t>networks or on private networks, i.e., WAN, LAN or </a:t>
            </a:r>
            <a:r>
              <a:rPr lang="en-US" sz="3200" dirty="0" smtClean="0"/>
              <a:t>VPN.</a:t>
            </a:r>
          </a:p>
          <a:p>
            <a:pPr algn="just">
              <a:lnSpc>
                <a:spcPct val="150000"/>
              </a:lnSpc>
            </a:pPr>
            <a:r>
              <a:rPr lang="en-US" sz="3200" dirty="0" smtClean="0"/>
              <a:t>Applications </a:t>
            </a:r>
            <a:r>
              <a:rPr lang="en-US" sz="3200" dirty="0"/>
              <a:t>such as </a:t>
            </a:r>
            <a:r>
              <a:rPr lang="en-US" sz="3200" dirty="0" smtClean="0"/>
              <a:t>e-mail.</a:t>
            </a:r>
          </a:p>
          <a:p>
            <a:pPr algn="just">
              <a:lnSpc>
                <a:spcPct val="150000"/>
              </a:lnSpc>
            </a:pPr>
            <a:r>
              <a:rPr lang="en-US" sz="3200" dirty="0" smtClean="0"/>
              <a:t> Web conferencing.</a:t>
            </a:r>
          </a:p>
          <a:p>
            <a:pPr algn="just">
              <a:lnSpc>
                <a:spcPct val="150000"/>
              </a:lnSpc>
            </a:pPr>
            <a:r>
              <a:rPr lang="en-US" sz="3200" dirty="0"/>
              <a:t>C</a:t>
            </a:r>
            <a:r>
              <a:rPr lang="en-US" sz="3200" dirty="0" smtClean="0"/>
              <a:t>ustomer </a:t>
            </a:r>
            <a:r>
              <a:rPr lang="en-US" sz="3200" dirty="0"/>
              <a:t>relationship management (CRM),all run in cloud. </a:t>
            </a:r>
          </a:p>
        </p:txBody>
      </p:sp>
    </p:spTree>
    <p:extLst>
      <p:ext uri="{BB962C8B-B14F-4D97-AF65-F5344CB8AC3E}">
        <p14:creationId xmlns:p14="http://schemas.microsoft.com/office/powerpoint/2010/main" val="5982287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52099" y="986318"/>
            <a:ext cx="7887801" cy="4486901"/>
          </a:xfrm>
        </p:spPr>
      </p:pic>
      <p:sp>
        <p:nvSpPr>
          <p:cNvPr id="5" name="TextBox 4"/>
          <p:cNvSpPr txBox="1"/>
          <p:nvPr/>
        </p:nvSpPr>
        <p:spPr>
          <a:xfrm>
            <a:off x="2833352" y="5898524"/>
            <a:ext cx="709625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 smtClean="0"/>
              <a:t>Diagram of cloud computing</a:t>
            </a:r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3520058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360608"/>
            <a:ext cx="10515600" cy="5816355"/>
          </a:xfrm>
        </p:spPr>
        <p:txBody>
          <a:bodyPr>
            <a:normAutofit/>
          </a:bodyPr>
          <a:lstStyle/>
          <a:p>
            <a:pPr algn="just">
              <a:lnSpc>
                <a:spcPct val="200000"/>
              </a:lnSpc>
            </a:pPr>
            <a:r>
              <a:rPr lang="en-US" sz="3200" dirty="0"/>
              <a:t>We need not to install a piece of software on our local PC and this is how the cloud computing overcomes platform dependency </a:t>
            </a:r>
            <a:r>
              <a:rPr lang="en-US" sz="3200" dirty="0" smtClean="0"/>
              <a:t>issues.</a:t>
            </a:r>
          </a:p>
          <a:p>
            <a:pPr algn="just">
              <a:lnSpc>
                <a:spcPct val="200000"/>
              </a:lnSpc>
            </a:pPr>
            <a:r>
              <a:rPr lang="en-US" sz="3200" dirty="0" smtClean="0"/>
              <a:t>Hence</a:t>
            </a:r>
            <a:r>
              <a:rPr lang="en-US" sz="3200" dirty="0"/>
              <a:t>, the Cloud Computing is making our business application mobile and collaborative </a:t>
            </a:r>
          </a:p>
        </p:txBody>
      </p:sp>
    </p:spTree>
    <p:extLst>
      <p:ext uri="{BB962C8B-B14F-4D97-AF65-F5344CB8AC3E}">
        <p14:creationId xmlns:p14="http://schemas.microsoft.com/office/powerpoint/2010/main" val="14800741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244698"/>
            <a:ext cx="10515600" cy="6362163"/>
          </a:xfrm>
        </p:spPr>
        <p:txBody>
          <a:bodyPr/>
          <a:lstStyle/>
          <a:p>
            <a:pPr marL="0" indent="0" algn="just">
              <a:lnSpc>
                <a:spcPct val="150000"/>
              </a:lnSpc>
              <a:buNone/>
            </a:pPr>
            <a:r>
              <a:rPr lang="en-US" sz="3200" dirty="0"/>
              <a:t>Basic Concepts </a:t>
            </a:r>
          </a:p>
          <a:p>
            <a:pPr algn="just">
              <a:lnSpc>
                <a:spcPct val="150000"/>
              </a:lnSpc>
            </a:pPr>
            <a:r>
              <a:rPr lang="en-US" sz="3200" dirty="0"/>
              <a:t>There are certain services and models working behind the scene making the cloud computing feasible and accessible to end </a:t>
            </a:r>
            <a:r>
              <a:rPr lang="en-US" sz="3200" dirty="0" smtClean="0"/>
              <a:t>users.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US" sz="3200" dirty="0" smtClean="0"/>
              <a:t>Following </a:t>
            </a:r>
            <a:r>
              <a:rPr lang="en-US" sz="3200" dirty="0"/>
              <a:t>are the working models for cloud computing: </a:t>
            </a:r>
          </a:p>
          <a:p>
            <a:pPr algn="just">
              <a:lnSpc>
                <a:spcPct val="150000"/>
              </a:lnSpc>
            </a:pPr>
            <a:r>
              <a:rPr lang="en-US" sz="3200" dirty="0" smtClean="0"/>
              <a:t>Deployment </a:t>
            </a:r>
            <a:r>
              <a:rPr lang="en-US" sz="3200" dirty="0"/>
              <a:t>Models </a:t>
            </a:r>
          </a:p>
          <a:p>
            <a:pPr algn="just">
              <a:lnSpc>
                <a:spcPct val="150000"/>
              </a:lnSpc>
            </a:pPr>
            <a:r>
              <a:rPr lang="en-US" sz="3200" dirty="0" smtClean="0"/>
              <a:t>Service </a:t>
            </a:r>
            <a:r>
              <a:rPr lang="en-US" sz="3200" dirty="0"/>
              <a:t>Models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163142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93183"/>
            <a:ext cx="10515600" cy="6516710"/>
          </a:xfrm>
        </p:spPr>
        <p:txBody>
          <a:bodyPr>
            <a:normAutofit lnSpcReduction="10000"/>
          </a:bodyPr>
          <a:lstStyle/>
          <a:p>
            <a:pPr marL="0" indent="0" algn="just">
              <a:lnSpc>
                <a:spcPct val="150000"/>
              </a:lnSpc>
              <a:buNone/>
            </a:pPr>
            <a:r>
              <a:rPr lang="en-US" sz="3200" dirty="0"/>
              <a:t>DEPLOYMENT MODELS </a:t>
            </a:r>
          </a:p>
          <a:p>
            <a:pPr algn="just">
              <a:lnSpc>
                <a:spcPct val="150000"/>
              </a:lnSpc>
            </a:pPr>
            <a:r>
              <a:rPr lang="en-US" sz="3200" dirty="0"/>
              <a:t>Deployment models define the type of access to the </a:t>
            </a:r>
            <a:r>
              <a:rPr lang="en-US" sz="3200" dirty="0" smtClean="0"/>
              <a:t>cloud</a:t>
            </a:r>
            <a:endParaRPr lang="en-US" sz="3200" dirty="0"/>
          </a:p>
          <a:p>
            <a:pPr algn="just">
              <a:lnSpc>
                <a:spcPct val="150000"/>
              </a:lnSpc>
            </a:pPr>
            <a:r>
              <a:rPr lang="en-US" sz="3200" dirty="0" smtClean="0"/>
              <a:t>How </a:t>
            </a:r>
            <a:r>
              <a:rPr lang="en-US" sz="3200" dirty="0"/>
              <a:t>the cloud is located? </a:t>
            </a:r>
            <a:endParaRPr lang="en-US" sz="3200" dirty="0" smtClean="0"/>
          </a:p>
          <a:p>
            <a:pPr marL="0" indent="0" algn="just">
              <a:lnSpc>
                <a:spcPct val="150000"/>
              </a:lnSpc>
              <a:buNone/>
            </a:pPr>
            <a:r>
              <a:rPr lang="en-US" sz="3200" dirty="0" smtClean="0"/>
              <a:t>Cloud </a:t>
            </a:r>
            <a:r>
              <a:rPr lang="en-US" sz="3200" dirty="0"/>
              <a:t>can have any of the four types of access: </a:t>
            </a:r>
            <a:endParaRPr lang="en-US" sz="3200" dirty="0" smtClean="0"/>
          </a:p>
          <a:p>
            <a:pPr algn="just">
              <a:lnSpc>
                <a:spcPct val="150000"/>
              </a:lnSpc>
            </a:pPr>
            <a:r>
              <a:rPr lang="en-US" sz="3200" dirty="0" smtClean="0"/>
              <a:t>Public</a:t>
            </a:r>
          </a:p>
          <a:p>
            <a:pPr algn="just">
              <a:lnSpc>
                <a:spcPct val="150000"/>
              </a:lnSpc>
            </a:pPr>
            <a:r>
              <a:rPr lang="en-US" sz="3200" dirty="0" smtClean="0"/>
              <a:t>Private</a:t>
            </a:r>
          </a:p>
          <a:p>
            <a:pPr algn="just">
              <a:lnSpc>
                <a:spcPct val="150000"/>
              </a:lnSpc>
            </a:pPr>
            <a:r>
              <a:rPr lang="en-US" sz="3200" dirty="0" smtClean="0"/>
              <a:t>Hybrid </a:t>
            </a:r>
            <a:endParaRPr lang="en-US" sz="3200" dirty="0"/>
          </a:p>
          <a:p>
            <a:pPr algn="just">
              <a:lnSpc>
                <a:spcPct val="150000"/>
              </a:lnSpc>
            </a:pPr>
            <a:r>
              <a:rPr lang="en-US" sz="3200" dirty="0" smtClean="0"/>
              <a:t>Community</a:t>
            </a:r>
            <a:r>
              <a:rPr lang="en-US" dirty="0"/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33901347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04626" y="1624582"/>
            <a:ext cx="6782747" cy="3210373"/>
          </a:xfrm>
        </p:spPr>
      </p:pic>
      <p:sp>
        <p:nvSpPr>
          <p:cNvPr id="5" name="TextBox 4"/>
          <p:cNvSpPr txBox="1"/>
          <p:nvPr/>
        </p:nvSpPr>
        <p:spPr>
          <a:xfrm>
            <a:off x="2704626" y="5718220"/>
            <a:ext cx="699316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 smtClean="0"/>
              <a:t>Cloud Computing Deployment Models</a:t>
            </a:r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31210138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93183"/>
            <a:ext cx="10515600" cy="5983780"/>
          </a:xfrm>
        </p:spPr>
        <p:txBody>
          <a:bodyPr>
            <a:normAutofit/>
          </a:bodyPr>
          <a:lstStyle/>
          <a:p>
            <a:pPr marL="0" indent="0" algn="just">
              <a:lnSpc>
                <a:spcPct val="200000"/>
              </a:lnSpc>
              <a:buNone/>
            </a:pPr>
            <a:r>
              <a:rPr lang="en-US" sz="3200" dirty="0"/>
              <a:t>PUBLIC CLOUD </a:t>
            </a:r>
          </a:p>
          <a:p>
            <a:pPr algn="just">
              <a:lnSpc>
                <a:spcPct val="200000"/>
              </a:lnSpc>
            </a:pPr>
            <a:r>
              <a:rPr lang="en-US" sz="3200" dirty="0"/>
              <a:t>The Public Cloud allows systems and services to be easily accessible to the general public</a:t>
            </a:r>
            <a:r>
              <a:rPr lang="en-US" sz="3200" dirty="0" smtClean="0"/>
              <a:t>.</a:t>
            </a:r>
          </a:p>
          <a:p>
            <a:pPr algn="just">
              <a:lnSpc>
                <a:spcPct val="200000"/>
              </a:lnSpc>
            </a:pPr>
            <a:r>
              <a:rPr lang="en-US" sz="3200" dirty="0" smtClean="0"/>
              <a:t> </a:t>
            </a:r>
            <a:r>
              <a:rPr lang="en-US" sz="3200" dirty="0"/>
              <a:t>Public cloud may be less secure because of its openness, </a:t>
            </a:r>
            <a:endParaRPr lang="en-US" sz="3200" dirty="0" smtClean="0"/>
          </a:p>
          <a:p>
            <a:pPr algn="just">
              <a:lnSpc>
                <a:spcPct val="200000"/>
              </a:lnSpc>
            </a:pPr>
            <a:r>
              <a:rPr lang="en-US" sz="3200" dirty="0" smtClean="0"/>
              <a:t>Example: </a:t>
            </a:r>
            <a:r>
              <a:rPr lang="en-US" sz="3200" dirty="0"/>
              <a:t>e-mail </a:t>
            </a:r>
          </a:p>
        </p:txBody>
      </p:sp>
    </p:spTree>
    <p:extLst>
      <p:ext uri="{BB962C8B-B14F-4D97-AF65-F5344CB8AC3E}">
        <p14:creationId xmlns:p14="http://schemas.microsoft.com/office/powerpoint/2010/main" val="2683402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244699"/>
            <a:ext cx="10515600" cy="5932264"/>
          </a:xfrm>
        </p:spPr>
        <p:txBody>
          <a:bodyPr>
            <a:normAutofit/>
          </a:bodyPr>
          <a:lstStyle/>
          <a:p>
            <a:pPr marL="0" indent="0" algn="just">
              <a:lnSpc>
                <a:spcPct val="200000"/>
              </a:lnSpc>
              <a:buNone/>
            </a:pPr>
            <a:r>
              <a:rPr lang="en-US" sz="3200" dirty="0"/>
              <a:t>PRIVATE CLOUD </a:t>
            </a:r>
          </a:p>
          <a:p>
            <a:pPr algn="just">
              <a:lnSpc>
                <a:spcPct val="200000"/>
              </a:lnSpc>
            </a:pPr>
            <a:r>
              <a:rPr lang="en-US" sz="3200" dirty="0"/>
              <a:t>The Private Cloud allows systems and services to be accessible within an organization. </a:t>
            </a:r>
            <a:endParaRPr lang="en-US" sz="3200" dirty="0" smtClean="0"/>
          </a:p>
          <a:p>
            <a:pPr algn="just">
              <a:lnSpc>
                <a:spcPct val="200000"/>
              </a:lnSpc>
            </a:pPr>
            <a:r>
              <a:rPr lang="en-US" sz="3200" dirty="0" smtClean="0"/>
              <a:t>It </a:t>
            </a:r>
            <a:r>
              <a:rPr lang="en-US" sz="3200" dirty="0"/>
              <a:t>offers increased security because of its private nature. </a:t>
            </a:r>
          </a:p>
        </p:txBody>
      </p:sp>
    </p:spTree>
    <p:extLst>
      <p:ext uri="{BB962C8B-B14F-4D97-AF65-F5344CB8AC3E}">
        <p14:creationId xmlns:p14="http://schemas.microsoft.com/office/powerpoint/2010/main" val="39958579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283335"/>
            <a:ext cx="10515600" cy="6336406"/>
          </a:xfrm>
        </p:spPr>
        <p:txBody>
          <a:bodyPr>
            <a:normAutofit/>
          </a:bodyPr>
          <a:lstStyle/>
          <a:p>
            <a:pPr marL="0" indent="0" algn="just">
              <a:lnSpc>
                <a:spcPct val="150000"/>
              </a:lnSpc>
              <a:buNone/>
            </a:pPr>
            <a:r>
              <a:rPr lang="en-US" sz="3200" dirty="0"/>
              <a:t>COMMUNITY CLOUD </a:t>
            </a:r>
          </a:p>
          <a:p>
            <a:pPr algn="just">
              <a:lnSpc>
                <a:spcPct val="150000"/>
              </a:lnSpc>
            </a:pPr>
            <a:r>
              <a:rPr lang="en-US" sz="3200" dirty="0"/>
              <a:t>The Community Cloud allows systems and services to be accessible by group of organizations. 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US" sz="3200" dirty="0"/>
              <a:t>HYBRID CLOUD </a:t>
            </a:r>
          </a:p>
          <a:p>
            <a:pPr algn="just">
              <a:lnSpc>
                <a:spcPct val="150000"/>
              </a:lnSpc>
            </a:pPr>
            <a:r>
              <a:rPr lang="en-US" sz="3200" dirty="0"/>
              <a:t>The Hybrid Cloud is mixture of public and private cloud. </a:t>
            </a:r>
            <a:endParaRPr lang="en-US" sz="3200" dirty="0" smtClean="0"/>
          </a:p>
          <a:p>
            <a:pPr algn="just">
              <a:lnSpc>
                <a:spcPct val="150000"/>
              </a:lnSpc>
            </a:pPr>
            <a:r>
              <a:rPr lang="en-US" sz="3200" dirty="0"/>
              <a:t>T</a:t>
            </a:r>
            <a:r>
              <a:rPr lang="en-US" sz="3200" dirty="0" smtClean="0"/>
              <a:t>he </a:t>
            </a:r>
            <a:r>
              <a:rPr lang="en-US" sz="3200" dirty="0"/>
              <a:t>critical activities are performed using private cloud while the non-critical activities are performed using public cloud. </a:t>
            </a:r>
          </a:p>
        </p:txBody>
      </p:sp>
    </p:spTree>
    <p:extLst>
      <p:ext uri="{BB962C8B-B14F-4D97-AF65-F5344CB8AC3E}">
        <p14:creationId xmlns:p14="http://schemas.microsoft.com/office/powerpoint/2010/main" val="39709358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257576"/>
            <a:ext cx="10515600" cy="6439437"/>
          </a:xfrm>
        </p:spPr>
        <p:txBody>
          <a:bodyPr>
            <a:normAutofit lnSpcReduction="10000"/>
          </a:bodyPr>
          <a:lstStyle/>
          <a:p>
            <a:pPr marL="0" indent="0" algn="just">
              <a:lnSpc>
                <a:spcPct val="150000"/>
              </a:lnSpc>
              <a:buNone/>
            </a:pPr>
            <a:r>
              <a:rPr lang="en-US" sz="3200" dirty="0"/>
              <a:t>SERVICE MODELS </a:t>
            </a:r>
          </a:p>
          <a:p>
            <a:pPr algn="just">
              <a:lnSpc>
                <a:spcPct val="150000"/>
              </a:lnSpc>
            </a:pPr>
            <a:r>
              <a:rPr lang="en-US" sz="3200" b="1" dirty="0"/>
              <a:t>Service Models </a:t>
            </a:r>
            <a:r>
              <a:rPr lang="en-US" sz="3200" dirty="0"/>
              <a:t>are the reference models on which the Cloud Computing is based</a:t>
            </a:r>
            <a:r>
              <a:rPr lang="en-US" sz="3200" dirty="0" smtClean="0"/>
              <a:t>.</a:t>
            </a:r>
          </a:p>
          <a:p>
            <a:pPr algn="just">
              <a:lnSpc>
                <a:spcPct val="150000"/>
              </a:lnSpc>
            </a:pPr>
            <a:r>
              <a:rPr lang="en-US" sz="3200" dirty="0" smtClean="0"/>
              <a:t> </a:t>
            </a:r>
            <a:r>
              <a:rPr lang="en-US" sz="3200" dirty="0"/>
              <a:t>These can be categorized into </a:t>
            </a:r>
            <a:r>
              <a:rPr lang="en-US" sz="3200" dirty="0" smtClean="0"/>
              <a:t>three </a:t>
            </a:r>
            <a:r>
              <a:rPr lang="en-US" sz="3200" dirty="0"/>
              <a:t>basic service models as listed below: </a:t>
            </a:r>
          </a:p>
          <a:p>
            <a:pPr algn="just">
              <a:lnSpc>
                <a:spcPct val="150000"/>
              </a:lnSpc>
            </a:pPr>
            <a:r>
              <a:rPr lang="en-US" sz="3200" dirty="0" smtClean="0"/>
              <a:t>Infrastructure </a:t>
            </a:r>
            <a:r>
              <a:rPr lang="en-US" sz="3200" dirty="0"/>
              <a:t>as a Service (</a:t>
            </a:r>
            <a:r>
              <a:rPr lang="en-US" sz="3200" dirty="0" err="1"/>
              <a:t>IaaS</a:t>
            </a:r>
            <a:r>
              <a:rPr lang="en-US" sz="3200" dirty="0"/>
              <a:t>) </a:t>
            </a:r>
          </a:p>
          <a:p>
            <a:pPr algn="just">
              <a:lnSpc>
                <a:spcPct val="150000"/>
              </a:lnSpc>
            </a:pPr>
            <a:r>
              <a:rPr lang="en-US" sz="3200" dirty="0" smtClean="0"/>
              <a:t> </a:t>
            </a:r>
            <a:r>
              <a:rPr lang="en-US" sz="3200" dirty="0"/>
              <a:t>Platform as a Service (</a:t>
            </a:r>
            <a:r>
              <a:rPr lang="en-US" sz="3200" dirty="0" err="1"/>
              <a:t>PaaS</a:t>
            </a:r>
            <a:r>
              <a:rPr lang="en-US" sz="3200" dirty="0"/>
              <a:t>) </a:t>
            </a:r>
          </a:p>
          <a:p>
            <a:pPr algn="just">
              <a:lnSpc>
                <a:spcPct val="150000"/>
              </a:lnSpc>
            </a:pPr>
            <a:r>
              <a:rPr lang="en-US" sz="3200" dirty="0" smtClean="0"/>
              <a:t>Software </a:t>
            </a:r>
            <a:r>
              <a:rPr lang="en-US" sz="3200" dirty="0"/>
              <a:t>as a Service (</a:t>
            </a:r>
            <a:r>
              <a:rPr lang="en-US" sz="3200" dirty="0" err="1"/>
              <a:t>SaaS</a:t>
            </a:r>
            <a:r>
              <a:rPr lang="en-US" sz="3200" dirty="0"/>
              <a:t>) </a:t>
            </a:r>
            <a:endParaRPr lang="en-US" sz="3200" dirty="0" smtClean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340143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257576"/>
            <a:ext cx="10515600" cy="6490953"/>
          </a:xfrm>
        </p:spPr>
        <p:txBody>
          <a:bodyPr>
            <a:normAutofit fontScale="92500" lnSpcReduction="20000"/>
          </a:bodyPr>
          <a:lstStyle/>
          <a:p>
            <a:pPr algn="just">
              <a:lnSpc>
                <a:spcPct val="150000"/>
              </a:lnSpc>
            </a:pPr>
            <a:r>
              <a:rPr lang="en-US" sz="3200" dirty="0"/>
              <a:t>There are many other service models all of which can take the </a:t>
            </a:r>
            <a:r>
              <a:rPr lang="en-US" sz="3200" dirty="0" smtClean="0"/>
              <a:t>forms like; </a:t>
            </a:r>
          </a:p>
          <a:p>
            <a:pPr algn="just">
              <a:lnSpc>
                <a:spcPct val="150000"/>
              </a:lnSpc>
            </a:pPr>
            <a:r>
              <a:rPr lang="en-US" sz="3200" dirty="0" smtClean="0"/>
              <a:t>Anything </a:t>
            </a:r>
            <a:r>
              <a:rPr lang="en-US" sz="3200" dirty="0"/>
              <a:t>as a </a:t>
            </a:r>
            <a:r>
              <a:rPr lang="en-US" sz="3200" dirty="0" smtClean="0"/>
              <a:t>Service (</a:t>
            </a:r>
            <a:r>
              <a:rPr lang="en-US" sz="3200" dirty="0" err="1" smtClean="0"/>
              <a:t>XaaS</a:t>
            </a:r>
            <a:r>
              <a:rPr lang="en-US" sz="3200" dirty="0" smtClean="0"/>
              <a:t>). 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US" sz="3200" dirty="0" smtClean="0"/>
              <a:t>Examples </a:t>
            </a:r>
          </a:p>
          <a:p>
            <a:pPr algn="just">
              <a:lnSpc>
                <a:spcPct val="150000"/>
              </a:lnSpc>
            </a:pPr>
            <a:r>
              <a:rPr lang="en-US" sz="3200" dirty="0" smtClean="0"/>
              <a:t>Network </a:t>
            </a:r>
            <a:r>
              <a:rPr lang="en-US" sz="3200" dirty="0"/>
              <a:t>as a </a:t>
            </a:r>
            <a:r>
              <a:rPr lang="en-US" sz="3200" dirty="0" smtClean="0"/>
              <a:t>Service</a:t>
            </a:r>
          </a:p>
          <a:p>
            <a:pPr algn="just">
              <a:lnSpc>
                <a:spcPct val="150000"/>
              </a:lnSpc>
            </a:pPr>
            <a:r>
              <a:rPr lang="en-US" sz="3200" dirty="0" smtClean="0"/>
              <a:t>Business </a:t>
            </a:r>
            <a:r>
              <a:rPr lang="en-US" sz="3200" dirty="0"/>
              <a:t>as a </a:t>
            </a:r>
            <a:r>
              <a:rPr lang="en-US" sz="3200" dirty="0" smtClean="0"/>
              <a:t>Service</a:t>
            </a:r>
          </a:p>
          <a:p>
            <a:pPr algn="just">
              <a:lnSpc>
                <a:spcPct val="150000"/>
              </a:lnSpc>
            </a:pPr>
            <a:r>
              <a:rPr lang="en-US" sz="3200" dirty="0" smtClean="0"/>
              <a:t>Identity </a:t>
            </a:r>
            <a:r>
              <a:rPr lang="en-US" sz="3200" dirty="0"/>
              <a:t>as a </a:t>
            </a:r>
            <a:r>
              <a:rPr lang="en-US" sz="3200" dirty="0" smtClean="0"/>
              <a:t>Service</a:t>
            </a:r>
          </a:p>
          <a:p>
            <a:pPr algn="just">
              <a:lnSpc>
                <a:spcPct val="150000"/>
              </a:lnSpc>
            </a:pPr>
            <a:r>
              <a:rPr lang="en-US" sz="3200" dirty="0" smtClean="0"/>
              <a:t> </a:t>
            </a:r>
            <a:r>
              <a:rPr lang="en-US" sz="3200" dirty="0"/>
              <a:t>Database as a Service </a:t>
            </a:r>
          </a:p>
          <a:p>
            <a:pPr algn="just">
              <a:lnSpc>
                <a:spcPct val="150000"/>
              </a:lnSpc>
            </a:pPr>
            <a:r>
              <a:rPr lang="en-US" sz="3200" dirty="0" smtClean="0"/>
              <a:t>Strategy </a:t>
            </a:r>
            <a:r>
              <a:rPr lang="en-US" sz="3200" dirty="0"/>
              <a:t>as a Service. </a:t>
            </a:r>
          </a:p>
        </p:txBody>
      </p:sp>
    </p:spTree>
    <p:extLst>
      <p:ext uri="{BB962C8B-B14F-4D97-AF65-F5344CB8AC3E}">
        <p14:creationId xmlns:p14="http://schemas.microsoft.com/office/powerpoint/2010/main" val="37467978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283335"/>
            <a:ext cx="10515600" cy="5893628"/>
          </a:xfrm>
        </p:spPr>
        <p:txBody>
          <a:bodyPr>
            <a:normAutofit/>
          </a:bodyPr>
          <a:lstStyle/>
          <a:p>
            <a:pPr algn="just">
              <a:lnSpc>
                <a:spcPct val="150000"/>
              </a:lnSpc>
            </a:pPr>
            <a:r>
              <a:rPr lang="en-US" sz="3200" dirty="0" smtClean="0"/>
              <a:t>The </a:t>
            </a:r>
            <a:r>
              <a:rPr lang="en-US" sz="3200" dirty="0"/>
              <a:t>Infrastructure as a Service (</a:t>
            </a:r>
            <a:r>
              <a:rPr lang="en-US" sz="3200" dirty="0" err="1"/>
              <a:t>IaaS</a:t>
            </a:r>
            <a:r>
              <a:rPr lang="en-US" sz="3200" dirty="0"/>
              <a:t>) is the most basic level of service</a:t>
            </a:r>
            <a:r>
              <a:rPr lang="en-US" sz="3200" dirty="0" smtClean="0"/>
              <a:t>.</a:t>
            </a:r>
          </a:p>
          <a:p>
            <a:pPr algn="just">
              <a:lnSpc>
                <a:spcPct val="150000"/>
              </a:lnSpc>
            </a:pPr>
            <a:r>
              <a:rPr lang="en-US" sz="3200" dirty="0" smtClean="0"/>
              <a:t> </a:t>
            </a:r>
            <a:r>
              <a:rPr lang="en-US" sz="3200" dirty="0"/>
              <a:t>Each of the service models make use of the underlying service </a:t>
            </a:r>
            <a:r>
              <a:rPr lang="en-US" sz="3200" dirty="0" smtClean="0"/>
              <a:t>model</a:t>
            </a:r>
          </a:p>
          <a:p>
            <a:pPr algn="just">
              <a:lnSpc>
                <a:spcPct val="150000"/>
              </a:lnSpc>
            </a:pPr>
            <a:r>
              <a:rPr lang="en-US" sz="3200" dirty="0"/>
              <a:t>E</a:t>
            </a:r>
            <a:r>
              <a:rPr lang="en-US" sz="3200" dirty="0" smtClean="0"/>
              <a:t>ach </a:t>
            </a:r>
            <a:r>
              <a:rPr lang="en-US" sz="3200" dirty="0"/>
              <a:t>inherits the security and management mechanism from the underlying model, as shown in the following diagram: </a:t>
            </a:r>
          </a:p>
        </p:txBody>
      </p:sp>
    </p:spTree>
    <p:extLst>
      <p:ext uri="{BB962C8B-B14F-4D97-AF65-F5344CB8AC3E}">
        <p14:creationId xmlns:p14="http://schemas.microsoft.com/office/powerpoint/2010/main" val="7844618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17442" y="1103813"/>
            <a:ext cx="6684135" cy="4884863"/>
          </a:xfrm>
        </p:spPr>
      </p:pic>
      <p:sp>
        <p:nvSpPr>
          <p:cNvPr id="5" name="TextBox 4"/>
          <p:cNvSpPr txBox="1"/>
          <p:nvPr/>
        </p:nvSpPr>
        <p:spPr>
          <a:xfrm>
            <a:off x="2524259" y="6168980"/>
            <a:ext cx="707050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 smtClean="0"/>
              <a:t>Cloud Service Models</a:t>
            </a:r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3019597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257576"/>
            <a:ext cx="10515600" cy="6600423"/>
          </a:xfrm>
        </p:spPr>
        <p:txBody>
          <a:bodyPr>
            <a:normAutofit fontScale="92500" lnSpcReduction="20000"/>
          </a:bodyPr>
          <a:lstStyle/>
          <a:p>
            <a:pPr marL="0" indent="0" algn="just">
              <a:lnSpc>
                <a:spcPct val="150000"/>
              </a:lnSpc>
              <a:buNone/>
            </a:pPr>
            <a:r>
              <a:rPr lang="en-US" sz="3200" dirty="0"/>
              <a:t>INFRASTRUCTURE AS A SERVICE (IAAS) 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US" sz="3200" b="1" dirty="0" err="1"/>
              <a:t>IaaS</a:t>
            </a:r>
            <a:r>
              <a:rPr lang="en-US" sz="3200" b="1" dirty="0"/>
              <a:t> </a:t>
            </a:r>
            <a:r>
              <a:rPr lang="en-US" sz="3200" dirty="0"/>
              <a:t>provides access to fundamental resources such as </a:t>
            </a:r>
            <a:endParaRPr lang="en-US" sz="3200" dirty="0" smtClean="0"/>
          </a:p>
          <a:p>
            <a:pPr algn="just">
              <a:lnSpc>
                <a:spcPct val="150000"/>
              </a:lnSpc>
            </a:pPr>
            <a:r>
              <a:rPr lang="en-US" sz="3200" dirty="0" smtClean="0"/>
              <a:t>virtual machines</a:t>
            </a:r>
          </a:p>
          <a:p>
            <a:pPr algn="just">
              <a:lnSpc>
                <a:spcPct val="150000"/>
              </a:lnSpc>
            </a:pPr>
            <a:r>
              <a:rPr lang="en-US" sz="3200" dirty="0" smtClean="0"/>
              <a:t> </a:t>
            </a:r>
            <a:r>
              <a:rPr lang="en-US" sz="3200" dirty="0"/>
              <a:t>virtual </a:t>
            </a:r>
            <a:r>
              <a:rPr lang="en-US" sz="3200" dirty="0" smtClean="0"/>
              <a:t>storage </a:t>
            </a:r>
            <a:endParaRPr lang="en-US" sz="3200" dirty="0"/>
          </a:p>
          <a:p>
            <a:pPr marL="0" indent="0" algn="just">
              <a:lnSpc>
                <a:spcPct val="150000"/>
              </a:lnSpc>
              <a:buNone/>
            </a:pPr>
            <a:r>
              <a:rPr lang="en-US" sz="3200" dirty="0"/>
              <a:t>PLATFORM AS A SERVICE (PAAS) 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US" sz="3200" b="1" dirty="0" err="1"/>
              <a:t>PaaS</a:t>
            </a:r>
            <a:r>
              <a:rPr lang="en-US" sz="3200" b="1" dirty="0"/>
              <a:t> </a:t>
            </a:r>
            <a:r>
              <a:rPr lang="en-US" sz="3200" dirty="0"/>
              <a:t>provides the runtime environment </a:t>
            </a:r>
            <a:r>
              <a:rPr lang="en-US" sz="3200" dirty="0" smtClean="0"/>
              <a:t>for</a:t>
            </a:r>
          </a:p>
          <a:p>
            <a:pPr algn="just">
              <a:lnSpc>
                <a:spcPct val="150000"/>
              </a:lnSpc>
            </a:pPr>
            <a:r>
              <a:rPr lang="en-US" sz="3200" dirty="0" smtClean="0"/>
              <a:t> applications</a:t>
            </a:r>
          </a:p>
          <a:p>
            <a:pPr algn="just">
              <a:lnSpc>
                <a:spcPct val="150000"/>
              </a:lnSpc>
            </a:pPr>
            <a:r>
              <a:rPr lang="en-US" sz="3200" dirty="0" smtClean="0"/>
              <a:t>development </a:t>
            </a:r>
          </a:p>
          <a:p>
            <a:pPr algn="just">
              <a:lnSpc>
                <a:spcPct val="150000"/>
              </a:lnSpc>
            </a:pPr>
            <a:r>
              <a:rPr lang="en-US" sz="3200" dirty="0" smtClean="0"/>
              <a:t>deployment </a:t>
            </a:r>
            <a:r>
              <a:rPr lang="en-US" sz="3200" dirty="0"/>
              <a:t>tools, etc. </a:t>
            </a:r>
          </a:p>
        </p:txBody>
      </p:sp>
    </p:spTree>
    <p:extLst>
      <p:ext uri="{BB962C8B-B14F-4D97-AF65-F5344CB8AC3E}">
        <p14:creationId xmlns:p14="http://schemas.microsoft.com/office/powerpoint/2010/main" val="33698652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67425"/>
            <a:ext cx="10515600" cy="6009538"/>
          </a:xfrm>
        </p:spPr>
        <p:txBody>
          <a:bodyPr>
            <a:normAutofit/>
          </a:bodyPr>
          <a:lstStyle/>
          <a:p>
            <a:pPr marL="0" indent="0" algn="just">
              <a:lnSpc>
                <a:spcPct val="200000"/>
              </a:lnSpc>
              <a:buNone/>
            </a:pPr>
            <a:r>
              <a:rPr lang="en-US" sz="3200" dirty="0" smtClean="0"/>
              <a:t>SOFTWARE AS A SERVICE (SAAS) </a:t>
            </a:r>
          </a:p>
          <a:p>
            <a:pPr algn="just">
              <a:lnSpc>
                <a:spcPct val="200000"/>
              </a:lnSpc>
            </a:pPr>
            <a:r>
              <a:rPr lang="en-US" sz="3200" b="1" dirty="0" err="1" smtClean="0"/>
              <a:t>SaaS</a:t>
            </a:r>
            <a:r>
              <a:rPr lang="en-US" sz="3200" b="1" dirty="0" smtClean="0"/>
              <a:t> </a:t>
            </a:r>
            <a:r>
              <a:rPr lang="en-US" sz="3200" dirty="0" smtClean="0"/>
              <a:t>model allows to use software applications as a service to end users. </a:t>
            </a:r>
          </a:p>
          <a:p>
            <a:pPr algn="just">
              <a:lnSpc>
                <a:spcPct val="200000"/>
              </a:lnSpc>
            </a:pPr>
            <a:r>
              <a:rPr lang="en-US" sz="3200" dirty="0" smtClean="0"/>
              <a:t>Example Google Docs.</a:t>
            </a:r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34000060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257577"/>
            <a:ext cx="10515600" cy="5919386"/>
          </a:xfrm>
        </p:spPr>
        <p:txBody>
          <a:bodyPr/>
          <a:lstStyle/>
          <a:p>
            <a:pPr marL="0" indent="0">
              <a:buNone/>
            </a:pPr>
            <a:r>
              <a:rPr lang="en-US" dirty="0" smtClean="0"/>
              <a:t>Benefits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dirty="0" smtClean="0"/>
              <a:t> 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75809" y="947391"/>
            <a:ext cx="8640381" cy="49632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09687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296214"/>
            <a:ext cx="10515600" cy="5880749"/>
          </a:xfrm>
        </p:spPr>
        <p:txBody>
          <a:bodyPr>
            <a:normAutofit/>
          </a:bodyPr>
          <a:lstStyle/>
          <a:p>
            <a:pPr marL="0" indent="0" algn="just">
              <a:lnSpc>
                <a:spcPct val="150000"/>
              </a:lnSpc>
              <a:buNone/>
            </a:pPr>
            <a:r>
              <a:rPr lang="en-US" sz="3200" dirty="0" smtClean="0"/>
              <a:t>Risk associated with cloud computing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US" sz="3200" dirty="0"/>
              <a:t>SECURITY &amp; PRIVACY </a:t>
            </a:r>
          </a:p>
          <a:p>
            <a:pPr algn="just">
              <a:lnSpc>
                <a:spcPct val="150000"/>
              </a:lnSpc>
            </a:pPr>
            <a:r>
              <a:rPr lang="en-US" sz="3200" dirty="0"/>
              <a:t>It is the biggest concern about cloud computing. </a:t>
            </a:r>
            <a:endParaRPr lang="en-US" sz="3200" dirty="0" smtClean="0"/>
          </a:p>
          <a:p>
            <a:pPr algn="just">
              <a:lnSpc>
                <a:spcPct val="150000"/>
              </a:lnSpc>
            </a:pPr>
            <a:r>
              <a:rPr lang="en-US" sz="3200" dirty="0" smtClean="0"/>
              <a:t>Third-party Management</a:t>
            </a:r>
          </a:p>
          <a:p>
            <a:pPr algn="just">
              <a:lnSpc>
                <a:spcPct val="150000"/>
              </a:lnSpc>
            </a:pPr>
            <a:r>
              <a:rPr lang="en-US" sz="3200" dirty="0" smtClean="0"/>
              <a:t>Although </a:t>
            </a:r>
            <a:r>
              <a:rPr lang="en-US" sz="3200" dirty="0"/>
              <a:t>the cloud computing vendors ensure </a:t>
            </a:r>
            <a:r>
              <a:rPr lang="en-US" sz="3200" dirty="0" smtClean="0"/>
              <a:t>more </a:t>
            </a:r>
            <a:r>
              <a:rPr lang="en-US" sz="3200" dirty="0"/>
              <a:t>secure password protected accounts, any sign of security breach would result in loss of clients and businesses. </a:t>
            </a:r>
          </a:p>
        </p:txBody>
      </p:sp>
    </p:spTree>
    <p:extLst>
      <p:ext uri="{BB962C8B-B14F-4D97-AF65-F5344CB8AC3E}">
        <p14:creationId xmlns:p14="http://schemas.microsoft.com/office/powerpoint/2010/main" val="4307508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360608"/>
            <a:ext cx="10515600" cy="5816355"/>
          </a:xfrm>
        </p:spPr>
        <p:txBody>
          <a:bodyPr>
            <a:normAutofit/>
          </a:bodyPr>
          <a:lstStyle/>
          <a:p>
            <a:pPr marL="0" indent="0" algn="just">
              <a:lnSpc>
                <a:spcPct val="150000"/>
              </a:lnSpc>
              <a:buNone/>
            </a:pPr>
            <a:r>
              <a:rPr lang="en-US" sz="3200" dirty="0"/>
              <a:t>LOCK-IN </a:t>
            </a:r>
          </a:p>
          <a:p>
            <a:pPr algn="just">
              <a:lnSpc>
                <a:spcPct val="150000"/>
              </a:lnSpc>
            </a:pPr>
            <a:r>
              <a:rPr lang="en-US" sz="3200" dirty="0"/>
              <a:t>It is very difficult for the customers to switch from one Cloud Service Provider (CSP) to another. </a:t>
            </a:r>
            <a:endParaRPr lang="en-US" sz="3200" dirty="0" smtClean="0"/>
          </a:p>
          <a:p>
            <a:pPr algn="just">
              <a:lnSpc>
                <a:spcPct val="150000"/>
              </a:lnSpc>
            </a:pPr>
            <a:r>
              <a:rPr lang="en-US" sz="3200" dirty="0" smtClean="0"/>
              <a:t>It </a:t>
            </a:r>
            <a:r>
              <a:rPr lang="en-US" sz="3200" dirty="0"/>
              <a:t>results in dependency on a particular CSP for service </a:t>
            </a:r>
          </a:p>
        </p:txBody>
      </p:sp>
    </p:spTree>
    <p:extLst>
      <p:ext uri="{BB962C8B-B14F-4D97-AF65-F5344CB8AC3E}">
        <p14:creationId xmlns:p14="http://schemas.microsoft.com/office/powerpoint/2010/main" val="4508458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270456"/>
            <a:ext cx="10515600" cy="5906507"/>
          </a:xfrm>
        </p:spPr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sz="3200" dirty="0"/>
              <a:t>ISOLATION FAILURE </a:t>
            </a:r>
          </a:p>
          <a:p>
            <a:pPr>
              <a:lnSpc>
                <a:spcPct val="150000"/>
              </a:lnSpc>
            </a:pPr>
            <a:r>
              <a:rPr lang="en-US" sz="3200" dirty="0"/>
              <a:t>This risk involves the failure of isolation mechanism that separates storage, memory, routing between the different tenants. </a:t>
            </a:r>
          </a:p>
        </p:txBody>
      </p:sp>
    </p:spTree>
    <p:extLst>
      <p:ext uri="{BB962C8B-B14F-4D97-AF65-F5344CB8AC3E}">
        <p14:creationId xmlns:p14="http://schemas.microsoft.com/office/powerpoint/2010/main" val="10043028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257576"/>
            <a:ext cx="10515600" cy="6503831"/>
          </a:xfrm>
        </p:spPr>
        <p:txBody>
          <a:bodyPr>
            <a:normAutofit fontScale="92500" lnSpcReduction="10000"/>
          </a:bodyPr>
          <a:lstStyle/>
          <a:p>
            <a:pPr marL="0" indent="0" algn="just">
              <a:lnSpc>
                <a:spcPct val="150000"/>
              </a:lnSpc>
              <a:buNone/>
            </a:pPr>
            <a:r>
              <a:rPr lang="en-US" sz="3200" dirty="0"/>
              <a:t>MANAGEMENT INTERFACE COMPROMISE </a:t>
            </a:r>
          </a:p>
          <a:p>
            <a:pPr algn="just">
              <a:lnSpc>
                <a:spcPct val="150000"/>
              </a:lnSpc>
            </a:pPr>
            <a:r>
              <a:rPr lang="en-US" sz="3200" dirty="0"/>
              <a:t>In case of public cloud provider, the customer management interfaces are accessible through the Internet. 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US" sz="3200" dirty="0"/>
              <a:t>INSECURE OR INCOMPLETE DATA DELETION </a:t>
            </a:r>
          </a:p>
          <a:p>
            <a:pPr algn="just">
              <a:lnSpc>
                <a:spcPct val="150000"/>
              </a:lnSpc>
            </a:pPr>
            <a:r>
              <a:rPr lang="en-US" sz="3200" dirty="0"/>
              <a:t>It is possible that the data requested for deletion may not get deleted</a:t>
            </a:r>
            <a:r>
              <a:rPr lang="en-US" sz="3200" dirty="0" smtClean="0"/>
              <a:t>.</a:t>
            </a:r>
          </a:p>
          <a:p>
            <a:pPr algn="just">
              <a:lnSpc>
                <a:spcPct val="150000"/>
              </a:lnSpc>
            </a:pPr>
            <a:r>
              <a:rPr lang="en-US" sz="3200" dirty="0" smtClean="0"/>
              <a:t> </a:t>
            </a:r>
            <a:r>
              <a:rPr lang="en-US" sz="3200" dirty="0"/>
              <a:t>It happens either because extra copies of data are stored but are not available or disk destroyed also stores data from other tenants. </a:t>
            </a:r>
          </a:p>
        </p:txBody>
      </p:sp>
    </p:spTree>
    <p:extLst>
      <p:ext uri="{BB962C8B-B14F-4D97-AF65-F5344CB8AC3E}">
        <p14:creationId xmlns:p14="http://schemas.microsoft.com/office/powerpoint/2010/main" val="29063057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296214"/>
            <a:ext cx="10515600" cy="5880749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Characteristics </a:t>
            </a:r>
          </a:p>
          <a:p>
            <a:r>
              <a:rPr lang="en-US" dirty="0"/>
              <a:t>There are four key characteristics of cloud computing. They are shown in the following diagram: </a:t>
            </a:r>
          </a:p>
        </p:txBody>
      </p:sp>
    </p:spTree>
    <p:extLst>
      <p:ext uri="{BB962C8B-B14F-4D97-AF65-F5344CB8AC3E}">
        <p14:creationId xmlns:p14="http://schemas.microsoft.com/office/powerpoint/2010/main" val="35064660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29555" y="818825"/>
            <a:ext cx="8500055" cy="5092578"/>
          </a:xfrm>
        </p:spPr>
      </p:pic>
      <p:sp>
        <p:nvSpPr>
          <p:cNvPr id="5" name="TextBox 4"/>
          <p:cNvSpPr txBox="1"/>
          <p:nvPr/>
        </p:nvSpPr>
        <p:spPr>
          <a:xfrm>
            <a:off x="1867437" y="6104586"/>
            <a:ext cx="674208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 smtClean="0"/>
              <a:t>Characteristics of Cloud Computing</a:t>
            </a:r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36813860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0304"/>
            <a:ext cx="10515600" cy="5996659"/>
          </a:xfrm>
        </p:spPr>
        <p:txBody>
          <a:bodyPr>
            <a:normAutofit/>
          </a:bodyPr>
          <a:lstStyle/>
          <a:p>
            <a:pPr marL="0" indent="0" algn="just">
              <a:lnSpc>
                <a:spcPct val="150000"/>
              </a:lnSpc>
              <a:buNone/>
            </a:pPr>
            <a:r>
              <a:rPr lang="en-US" sz="3200" dirty="0"/>
              <a:t>ON DEMAND SELF-SERVICE </a:t>
            </a:r>
          </a:p>
          <a:p>
            <a:pPr algn="just">
              <a:lnSpc>
                <a:spcPct val="150000"/>
              </a:lnSpc>
            </a:pPr>
            <a:r>
              <a:rPr lang="en-US" sz="3200" dirty="0"/>
              <a:t>Cloud Computing allows the users to use web services and resources on demand. </a:t>
            </a:r>
            <a:endParaRPr lang="en-US" sz="3200" dirty="0" smtClean="0"/>
          </a:p>
          <a:p>
            <a:pPr algn="just">
              <a:lnSpc>
                <a:spcPct val="150000"/>
              </a:lnSpc>
            </a:pPr>
            <a:r>
              <a:rPr lang="en-US" sz="3200" dirty="0" smtClean="0"/>
              <a:t>One </a:t>
            </a:r>
            <a:r>
              <a:rPr lang="en-US" sz="3200" dirty="0"/>
              <a:t>can logon to a website at any time and use them. </a:t>
            </a:r>
            <a:endParaRPr lang="en-US" sz="3200" dirty="0" smtClean="0"/>
          </a:p>
          <a:p>
            <a:pPr marL="0" indent="0" algn="just">
              <a:lnSpc>
                <a:spcPct val="150000"/>
              </a:lnSpc>
              <a:buNone/>
            </a:pPr>
            <a:r>
              <a:rPr lang="en-US" sz="3200" dirty="0"/>
              <a:t>BROAD NETWORK ACCESS </a:t>
            </a:r>
          </a:p>
          <a:p>
            <a:pPr algn="just">
              <a:lnSpc>
                <a:spcPct val="150000"/>
              </a:lnSpc>
            </a:pPr>
            <a:r>
              <a:rPr lang="en-US" sz="3200" dirty="0"/>
              <a:t>Since Cloud Computing is completely web based, it can be accessed from anywhere and at any time. </a:t>
            </a:r>
          </a:p>
        </p:txBody>
      </p:sp>
    </p:spTree>
    <p:extLst>
      <p:ext uri="{BB962C8B-B14F-4D97-AF65-F5344CB8AC3E}">
        <p14:creationId xmlns:p14="http://schemas.microsoft.com/office/powerpoint/2010/main" val="4589264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02595" y="257576"/>
            <a:ext cx="10515600" cy="6490953"/>
          </a:xfrm>
        </p:spPr>
        <p:txBody>
          <a:bodyPr>
            <a:normAutofit fontScale="92500" lnSpcReduction="10000"/>
          </a:bodyPr>
          <a:lstStyle/>
          <a:p>
            <a:pPr marL="0" indent="0" algn="just">
              <a:lnSpc>
                <a:spcPct val="150000"/>
              </a:lnSpc>
              <a:buNone/>
            </a:pPr>
            <a:r>
              <a:rPr lang="en-US" sz="3200" dirty="0"/>
              <a:t>RESOURCE POOLING </a:t>
            </a:r>
          </a:p>
          <a:p>
            <a:pPr algn="just">
              <a:lnSpc>
                <a:spcPct val="150000"/>
              </a:lnSpc>
            </a:pPr>
            <a:r>
              <a:rPr lang="en-US" sz="3200" dirty="0"/>
              <a:t>Cloud Computing allows multiple tenants to share a pool of resources</a:t>
            </a:r>
            <a:r>
              <a:rPr lang="en-US" sz="3200" dirty="0" smtClean="0"/>
              <a:t>.</a:t>
            </a:r>
          </a:p>
          <a:p>
            <a:pPr algn="just">
              <a:lnSpc>
                <a:spcPct val="150000"/>
              </a:lnSpc>
            </a:pPr>
            <a:r>
              <a:rPr lang="en-US" sz="3200" dirty="0" smtClean="0"/>
              <a:t> </a:t>
            </a:r>
            <a:r>
              <a:rPr lang="en-US" sz="3200" dirty="0"/>
              <a:t>One can share single physical instance of hardware, database and basic infrastructure. </a:t>
            </a:r>
            <a:endParaRPr lang="en-US" sz="3200" dirty="0" smtClean="0"/>
          </a:p>
          <a:p>
            <a:pPr marL="0" indent="0" algn="just">
              <a:lnSpc>
                <a:spcPct val="150000"/>
              </a:lnSpc>
              <a:buNone/>
            </a:pPr>
            <a:r>
              <a:rPr lang="en-US" sz="3200" dirty="0"/>
              <a:t>RAPID ELASTICITY </a:t>
            </a:r>
          </a:p>
          <a:p>
            <a:pPr algn="just">
              <a:lnSpc>
                <a:spcPct val="150000"/>
              </a:lnSpc>
            </a:pPr>
            <a:r>
              <a:rPr lang="en-US" sz="3200" dirty="0"/>
              <a:t>It is very easy to scale up or down the resources at any </a:t>
            </a:r>
            <a:r>
              <a:rPr lang="en-US" sz="3200" dirty="0" smtClean="0"/>
              <a:t>time.</a:t>
            </a:r>
          </a:p>
          <a:p>
            <a:pPr algn="just">
              <a:lnSpc>
                <a:spcPct val="150000"/>
              </a:lnSpc>
            </a:pPr>
            <a:r>
              <a:rPr lang="en-US" sz="3200" dirty="0" smtClean="0"/>
              <a:t>Resources </a:t>
            </a:r>
            <a:r>
              <a:rPr lang="en-US" sz="3200" dirty="0"/>
              <a:t>used by the customers or currently assigned to customers are automatically monitored and </a:t>
            </a:r>
            <a:r>
              <a:rPr lang="en-US" sz="3200" dirty="0" smtClean="0"/>
              <a:t>resources</a:t>
            </a:r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18249116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158</TotalTime>
  <Words>856</Words>
  <Application>Microsoft Office PowerPoint</Application>
  <PresentationFormat>Widescreen</PresentationFormat>
  <Paragraphs>109</Paragraphs>
  <Slides>27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1" baseType="lpstr">
      <vt:lpstr>Arial</vt:lpstr>
      <vt:lpstr>Calibri</vt:lpstr>
      <vt:lpstr>Calibri Light</vt:lpstr>
      <vt:lpstr>Office Theme</vt:lpstr>
      <vt:lpstr>UNIT I  CLOUD COMPUTING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UNIT I  CLOUD COMPUTING</dc:title>
  <dc:creator>ThinkPad</dc:creator>
  <cp:lastModifiedBy>ThinkPad</cp:lastModifiedBy>
  <cp:revision>15</cp:revision>
  <dcterms:created xsi:type="dcterms:W3CDTF">2022-05-29T14:17:46Z</dcterms:created>
  <dcterms:modified xsi:type="dcterms:W3CDTF">2025-01-17T17:46:16Z</dcterms:modified>
</cp:coreProperties>
</file>